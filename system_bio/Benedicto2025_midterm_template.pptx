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64" r:id="rId14"/>
    <p:sldId id="266" r:id="rId16"/>
    <p:sldId id="275" r:id="rId27"/>
    <p:sldId id="276" r:id="rId28"/>
    <p:sldId id="277" r:id="rId29"/>
    <p:sldId id="261" r:id="rId11"/>
    <p:sldId id="267" r:id="rId17"/>
    <p:sldId id="262" r:id="rId12"/>
    <p:sldId id="269" r:id="rId19"/>
    <p:sldId id="278" r:id="rId30"/>
    <p:sldId id="279" r:id="rId31"/>
    <p:sldId id="280" r:id="rId32"/>
    <p:sldId id="281" r:id="rId33"/>
  </p:sldIdLst>
  <p:sldSz cx="18288000" cy="10287000"/>
  <p:notesSz cx="6858000" cy="9144000"/>
  <p:embeddedFontLst>
    <p:embeddedFont>
      <p:font typeface="Nanum Gothic" charset="1" panose="020D0604000000000000"/>
      <p:regular r:id="rId25"/>
    </p:embeddedFont>
    <p:embeddedFont>
      <p:font typeface="Nanum Gothic Bold" charset="1" panose="020D0804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10.xml"/><Relationship Id="rId19" Type="http://schemas.openxmlformats.org/officeDocument/2006/relationships/slide" Target="slides/slide12.xml"/><Relationship Id="rId24" Type="http://schemas.openxmlformats.org/officeDocument/2006/relationships/notesMaster" Target="notesMasters/notesMaster1.xml"/><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npj Systems Biology and Applications 11:111 (2025). AGS gastric cancer cells, three kinase inhibitors, two combinations. Public data GSE285616 and open-source MTEApy; I re-ran the analysis myself.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skip if time is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AGS carries KRAS G12D and PIK3CA mutations, so MAPK and PI3K are both active. Synergy of the pairs was shown for growth in Flobak 2015. GSEA and DEG give broad labels such as amino acid metabolism.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a task is a defined input to output conversion, e.g. aspartate to asparagine. TIDE averages the reactions of a pFBA reference pathway; TIDE-essential averages genes whose knockout makes the task infeasible. Permutation shuffles gene log2FC values.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A = significant tasks per condition (down in blue). B = Jaccard overlap, PI3Ki and PI3Ki+MEKi 0.75, MEKi isolated. C = amino acids largest. D = tasks significant in all five; Asp to Asn is ASNS, a single-gene task. Task score = mean log2FC.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parent and child logic. Weak: combination below the min of both singles. Strong: both singles not significant, combination significant. Strong-synergy scores are small, -0.3 to -0.8, versus -5.9 for Asp to Asn. Combination is half-dose of each drug.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counts are task-condition pairs, not distinct tasks. rho = 0.93 is computed on pairs already significant in both methods. Single-gene tasks give identical scores. Complementary, not a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same counts from GEO, pydeseq2 with replicate + condition, apeglm, p &lt; 0.025. Null = shuffle log2FC among model genes only or among all genes; the paper's ordering PI3Ki, PI3Ki+MEKi, PI3Ki+TAKi, TAKi, MEKi appears only with all genes. Trust direction and scores, not exact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robust = what I could reproduce. Sensitive = what moved when I changed the null or looked at margins (median margin 0.06 to 0.10; 52 to 70 percent of weak calls below 0.1). Not tested = acknowledged by the authors or absent.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AGS has KRAS G12D and PIK3CA mutations, so both arms are on. ODC1 is the target of DFMO; asparagine synthesis links to asparaginase therapy; thioredoxin to CHK1 inhibitor sensitivity (cited in the paper). All hypotheses, from background knowledge.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points: (1) PI3K inhibition weakens most biosynthetic tasks, asparagine synthesis clearest. (2) Combination-only changes such as polyamine and CoQ synthesis are candidates. (3) Scores reproduce; counts and synergy labels depend on method choices.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6243439"/>
          </a:xfrm>
          <a:prstGeom prst="rect">
            <a:avLst/>
          </a:prstGeom>
          <a:solidFill>
            <a:srgbClr val="F1F1F1"/>
          </a:solidFill>
        </p:spPr>
      </p:sp>
      <p:grpSp>
        <p:nvGrpSpPr>
          <p:cNvPr name="Group 3" id="3"/>
          <p:cNvGrpSpPr/>
          <p:nvPr/>
        </p:nvGrpSpPr>
        <p:grpSpPr>
          <a:xfrm rot="0">
            <a:off x="12089143" y="2653258"/>
            <a:ext cx="4376118" cy="771670"/>
            <a:chOff x="0" y="0"/>
            <a:chExt cx="5834825" cy="1028893"/>
          </a:xfrm>
        </p:grpSpPr>
        <p:grpSp>
          <p:nvGrpSpPr>
            <p:cNvPr name="Group 4" id="4"/>
            <p:cNvGrpSpPr/>
            <p:nvPr/>
          </p:nvGrpSpPr>
          <p:grpSpPr>
            <a:xfrm rot="0">
              <a:off x="0" y="0"/>
              <a:ext cx="5834825" cy="1028893"/>
              <a:chOff x="0" y="0"/>
              <a:chExt cx="5359237" cy="945029"/>
            </a:xfrm>
          </p:grpSpPr>
          <p:sp>
            <p:nvSpPr>
              <p:cNvPr name="Freeform 5" id="5"/>
              <p:cNvSpPr/>
              <p:nvPr/>
            </p:nvSpPr>
            <p:spPr>
              <a:xfrm flipH="false" flipV="false" rot="0">
                <a:off x="0" y="0"/>
                <a:ext cx="5360507" cy="945029"/>
              </a:xfrm>
              <a:custGeom>
                <a:avLst/>
                <a:gdLst/>
                <a:ahLst/>
                <a:cxnLst/>
                <a:rect r="r" b="b" t="t" l="l"/>
                <a:pathLst>
                  <a:path h="945029" w="5360507">
                    <a:moveTo>
                      <a:pt x="4806787" y="945029"/>
                    </a:moveTo>
                    <a:lnTo>
                      <a:pt x="553720" y="945029"/>
                    </a:lnTo>
                    <a:cubicBezTo>
                      <a:pt x="247650" y="945029"/>
                      <a:pt x="0" y="733433"/>
                      <a:pt x="0" y="473042"/>
                    </a:cubicBezTo>
                    <a:cubicBezTo>
                      <a:pt x="0" y="211567"/>
                      <a:pt x="247650" y="0"/>
                      <a:pt x="553720" y="0"/>
                    </a:cubicBezTo>
                    <a:lnTo>
                      <a:pt x="4806787" y="0"/>
                    </a:lnTo>
                    <a:cubicBezTo>
                      <a:pt x="5112857" y="0"/>
                      <a:pt x="5360507" y="211567"/>
                      <a:pt x="5360507" y="473042"/>
                    </a:cubicBezTo>
                    <a:cubicBezTo>
                      <a:pt x="5359237" y="733433"/>
                      <a:pt x="5111587" y="945029"/>
                      <a:pt x="4806787" y="945029"/>
                    </a:cubicBezTo>
                    <a:close/>
                  </a:path>
                </a:pathLst>
              </a:custGeom>
              <a:solidFill>
                <a:srgbClr val="FA643F"/>
              </a:solidFill>
            </p:spPr>
          </p:sp>
        </p:grpSp>
        <p:sp>
          <p:nvSpPr>
            <p:cNvPr name="TextBox 6" id="6"/>
            <p:cNvSpPr txBox="true"/>
            <p:nvPr/>
          </p:nvSpPr>
          <p:spPr>
            <a:xfrm rot="0">
              <a:off x="536214" y="254776"/>
              <a:ext cx="4762396" cy="471716"/>
            </a:xfrm>
            <a:prstGeom prst="rect">
              <a:avLst/>
            </a:prstGeom>
          </p:spPr>
          <p:txBody>
            <a:bodyPr anchor="t" rtlCol="false" tIns="0" lIns="0" bIns="0" rIns="0">
              <a:spAutoFit/>
            </a:bodyPr>
            <a:lstStyle/>
            <a:p>
              <a:pPr algn="ctr">
                <a:lnSpc>
                  <a:spcPts val="2943"/>
                </a:lnSpc>
              </a:pPr>
              <a:r>
                <a:rPr lang="en-US" sz="2102">
                  <a:solidFill>
                    <a:srgbClr val="FFFFFF"/>
                  </a:solidFill>
                  <a:latin typeface="Nanum Gothic"/>
                  <a:ea typeface="Nanum Gothic"/>
                  <a:cs typeface="Nanum Gothic"/>
                  <a:sym typeface="Nanum Gothic"/>
                </a:rPr>
                <a:t>Benedicto et al., 2025</a:t>
              </a:r>
            </a:p>
          </p:txBody>
        </p:sp>
      </p:grpSp>
      <p:grpSp>
        <p:nvGrpSpPr>
          <p:cNvPr name="Group 7" id="7"/>
          <p:cNvGrpSpPr/>
          <p:nvPr/>
        </p:nvGrpSpPr>
        <p:grpSpPr>
          <a:xfrm rot="0">
            <a:off x="10266090" y="7628372"/>
            <a:ext cx="6199171" cy="756169"/>
            <a:chOff x="0" y="0"/>
            <a:chExt cx="8265562" cy="1008225"/>
          </a:xfrm>
        </p:grpSpPr>
        <p:sp>
          <p:nvSpPr>
            <p:cNvPr name="TextBox 8" id="8"/>
            <p:cNvSpPr txBox="true"/>
            <p:nvPr/>
          </p:nvSpPr>
          <p:spPr>
            <a:xfrm rot="0">
              <a:off x="0" y="407515"/>
              <a:ext cx="8265562" cy="600710"/>
            </a:xfrm>
            <a:prstGeom prst="rect">
              <a:avLst/>
            </a:prstGeom>
          </p:spPr>
          <p:txBody>
            <a:bodyPr anchor="t" rtlCol="false" tIns="0" lIns="0" bIns="0" rIns="0">
              <a:spAutoFit/>
            </a:bodyPr>
            <a:lstStyle/>
            <a:p>
              <a:pPr algn="l" marL="0" indent="0" lvl="0">
                <a:lnSpc>
                  <a:spcPts val="3779"/>
                </a:lnSpc>
                <a:spcBef>
                  <a:spcPct val="0"/>
                </a:spcBef>
              </a:pPr>
              <a:r>
                <a:rPr lang="en-US" b="true" sz="2700" u="none">
                  <a:solidFill>
                    <a:srgbClr val="000000"/>
                  </a:solidFill>
                  <a:latin typeface="Nanum Gothic Bold"/>
                  <a:ea typeface="Nanum Gothic Bold"/>
                  <a:cs typeface="Nanum Gothic Bold"/>
                  <a:sym typeface="Nanum Gothic Bold"/>
                </a:rPr>
                <a:t>Systems Biology Midterm</a:t>
              </a:r>
            </a:p>
          </p:txBody>
        </p:sp>
        <p:sp>
          <p:nvSpPr>
            <p:cNvPr name="AutoShape 9" id="9"/>
            <p:cNvSpPr/>
            <p:nvPr/>
          </p:nvSpPr>
          <p:spPr>
            <a:xfrm rot="0">
              <a:off x="0" y="0"/>
              <a:ext cx="8265562" cy="0"/>
            </a:xfrm>
            <a:prstGeom prst="line">
              <a:avLst/>
            </a:prstGeom>
            <a:ln cap="flat" w="25400">
              <a:solidFill>
                <a:srgbClr val="FA643F"/>
              </a:solidFill>
              <a:prstDash val="solid"/>
              <a:headEnd type="none" len="sm" w="sm"/>
              <a:tailEnd type="none" len="sm" w="sm"/>
            </a:ln>
          </p:spPr>
        </p:sp>
      </p:grpSp>
      <p:sp>
        <p:nvSpPr>
          <p:cNvPr name="TextBox 10" id="10"/>
          <p:cNvSpPr txBox="true"/>
          <p:nvPr/>
        </p:nvSpPr>
        <p:spPr>
          <a:xfrm rot="0">
            <a:off x="1822739" y="1754559"/>
            <a:ext cx="9509760" cy="3422651"/>
          </a:xfrm>
          <a:prstGeom prst="rect">
            <a:avLst/>
          </a:prstGeom>
        </p:spPr>
        <p:txBody>
          <a:bodyPr anchor="t" rtlCol="false" tIns="0" lIns="0" bIns="0" rIns="0">
            <a:spAutoFit/>
          </a:bodyPr>
          <a:lstStyle/>
          <a:p>
            <a:pPr algn="l">
              <a:lnSpc>
                <a:spcPct val="105000"/>
              </a:lnSpc>
            </a:pPr>
            <a:r>
              <a:rPr lang="en-US" sz="4400" b="true">
                <a:solidFill>
                  <a:srgbClr val="000000"/>
                </a:solidFill>
                <a:latin typeface="Nanum Gothic Bold"/>
                <a:ea typeface="Nanum Gothic Bold"/>
                <a:cs typeface="Nanum Gothic Bold"/>
                <a:sym typeface="Nanum Gothic Bold"/>
              </a:rPr>
              <a:t>Constraint-based modeling of drug-induced metabolic changes in a cancer cell line</a:t>
            </a:r>
          </a:p>
        </p:txBody>
      </p:sp>
      <p:sp>
        <p:nvSpPr>
          <p:cNvPr name="TextBox 11" id="11"/>
          <p:cNvSpPr txBox="true"/>
          <p:nvPr/>
        </p:nvSpPr>
        <p:spPr>
          <a:xfrm rot="0">
            <a:off x="1822739" y="1253401"/>
            <a:ext cx="567361" cy="365125"/>
          </a:xfrm>
          <a:prstGeom prst="rect">
            <a:avLst/>
          </a:prstGeom>
        </p:spPr>
        <p:txBody>
          <a:bodyPr anchor="t" rtlCol="false" tIns="0" lIns="0" bIns="0" rIns="0">
            <a:spAutoFit/>
          </a:bodyPr>
          <a:lstStyle/>
          <a:p>
            <a:pPr algn="l">
              <a:lnSpc>
                <a:spcPts val="2749"/>
              </a:lnSpc>
            </a:pPr>
            <a:r>
              <a:rPr lang="en-US" sz="2499" b="true">
                <a:solidFill>
                  <a:srgbClr val="FA643F"/>
                </a:solidFill>
                <a:latin typeface="Nanum Gothic Bold"/>
                <a:ea typeface="Nanum Gothic Bold"/>
                <a:cs typeface="Nanum Gothic Bold"/>
                <a:sym typeface="Nanum Gothic Bold"/>
              </a:rPr>
              <a:t>01</a:t>
            </a:r>
          </a:p>
        </p:txBody>
      </p:sp>
      <p:grpSp>
        <p:nvGrpSpPr>
          <p:cNvPr name="Group 12" id="12"/>
          <p:cNvGrpSpPr/>
          <p:nvPr/>
        </p:nvGrpSpPr>
        <p:grpSpPr>
          <a:xfrm rot="0">
            <a:off x="1822739" y="7628372"/>
            <a:ext cx="6199171" cy="1238084"/>
            <a:chOff x="0" y="0"/>
            <a:chExt cx="8265562" cy="1650778"/>
          </a:xfrm>
        </p:grpSpPr>
        <p:sp>
          <p:nvSpPr>
            <p:cNvPr name="TextBox 13" id="13"/>
            <p:cNvSpPr txBox="true"/>
            <p:nvPr/>
          </p:nvSpPr>
          <p:spPr>
            <a:xfrm rot="0">
              <a:off x="0" y="1166485"/>
              <a:ext cx="8265562" cy="484293"/>
            </a:xfrm>
            <a:prstGeom prst="rect">
              <a:avLst/>
            </a:prstGeom>
          </p:spPr>
          <p:txBody>
            <a:bodyPr anchor="t" rtlCol="false" tIns="0" lIns="0" bIns="0" rIns="0">
              <a:spAutoFit/>
            </a:bodyPr>
            <a:lstStyle/>
            <a:p>
              <a:pPr algn="l" marL="0" indent="0" lvl="0">
                <a:lnSpc>
                  <a:spcPts val="3079"/>
                </a:lnSpc>
                <a:spcBef>
                  <a:spcPct val="0"/>
                </a:spcBef>
              </a:pPr>
              <a:r>
                <a:rPr lang="en-US" sz="2199" u="none">
                  <a:solidFill>
                    <a:srgbClr val="000000"/>
                  </a:solidFill>
                  <a:latin typeface="Nanum Gothic"/>
                  <a:ea typeface="Nanum Gothic"/>
                  <a:cs typeface="Nanum Gothic"/>
                  <a:sym typeface="Nanum Gothic"/>
                </a:rPr>
                <a:t>Format B · Presentation date 2026-10-14</a:t>
              </a:r>
            </a:p>
          </p:txBody>
        </p:sp>
        <p:sp>
          <p:nvSpPr>
            <p:cNvPr name="TextBox 14" id="14"/>
            <p:cNvSpPr txBox="true"/>
            <p:nvPr/>
          </p:nvSpPr>
          <p:spPr>
            <a:xfrm rot="0">
              <a:off x="0" y="407515"/>
              <a:ext cx="8265562" cy="600710"/>
            </a:xfrm>
            <a:prstGeom prst="rect">
              <a:avLst/>
            </a:prstGeom>
          </p:spPr>
          <p:txBody>
            <a:bodyPr anchor="t" rtlCol="false" tIns="0" lIns="0" bIns="0" rIns="0">
              <a:spAutoFit/>
            </a:bodyPr>
            <a:lstStyle/>
            <a:p>
              <a:pPr algn="l" marL="0" indent="0" lvl="0">
                <a:lnSpc>
                  <a:spcPts val="3779"/>
                </a:lnSpc>
                <a:spcBef>
                  <a:spcPct val="0"/>
                </a:spcBef>
              </a:pPr>
              <a:r>
                <a:rPr lang="en-US" b="true" sz="2700">
                  <a:solidFill>
                    <a:srgbClr val="000000"/>
                  </a:solidFill>
                  <a:latin typeface="Nanum Gothic Bold"/>
                  <a:ea typeface="Nanum Gothic Bold"/>
                  <a:cs typeface="Nanum Gothic Bold"/>
                  <a:sym typeface="Nanum Gothic Bold"/>
                </a:rPr>
                <a:t>권태민 · 32220304</a:t>
              </a:r>
            </a:p>
          </p:txBody>
        </p:sp>
        <p:sp>
          <p:nvSpPr>
            <p:cNvPr name="AutoShape 15" id="15"/>
            <p:cNvSpPr/>
            <p:nvPr/>
          </p:nvSpPr>
          <p:spPr>
            <a:xfrm rot="0">
              <a:off x="0" y="0"/>
              <a:ext cx="8265562" cy="0"/>
            </a:xfrm>
            <a:prstGeom prst="line">
              <a:avLst/>
            </a:prstGeom>
            <a:ln cap="flat" w="25400">
              <a:solidFill>
                <a:srgbClr val="FA643F"/>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4382286"/>
            <a:ext cx="16230600" cy="4876014"/>
          </a:xfrm>
          <a:prstGeom prst="rect">
            <a:avLst/>
          </a:prstGeom>
          <a:solidFill>
            <a:srgbClr val="F1F1F1"/>
          </a:solidFill>
        </p:spPr>
      </p:sp>
      <p:grpSp>
        <p:nvGrpSpPr>
          <p:cNvPr name="Group 3" id="3"/>
          <p:cNvGrpSpPr/>
          <p:nvPr/>
        </p:nvGrpSpPr>
        <p:grpSpPr>
          <a:xfrm rot="0">
            <a:off x="9374874" y="1611579"/>
            <a:ext cx="7450635" cy="1943100"/>
            <a:chOff x="0" y="0"/>
            <a:chExt cx="5620866" cy="1465903"/>
          </a:xfrm>
        </p:grpSpPr>
        <p:sp>
          <p:nvSpPr>
            <p:cNvPr name="Freeform 4" id="4"/>
            <p:cNvSpPr/>
            <p:nvPr/>
          </p:nvSpPr>
          <p:spPr>
            <a:xfrm flipH="false" flipV="false" rot="0">
              <a:off x="0" y="0"/>
              <a:ext cx="5620866" cy="1465903"/>
            </a:xfrm>
            <a:custGeom>
              <a:avLst/>
              <a:gdLst/>
              <a:ahLst/>
              <a:cxnLst/>
              <a:rect r="r" b="b" t="t" l="l"/>
              <a:pathLst>
                <a:path h="1465903" w="5620866">
                  <a:moveTo>
                    <a:pt x="31173" y="0"/>
                  </a:moveTo>
                  <a:lnTo>
                    <a:pt x="5589693" y="0"/>
                  </a:lnTo>
                  <a:cubicBezTo>
                    <a:pt x="5606909" y="0"/>
                    <a:pt x="5620866" y="13957"/>
                    <a:pt x="5620866" y="31173"/>
                  </a:cubicBezTo>
                  <a:lnTo>
                    <a:pt x="5620866" y="1434730"/>
                  </a:lnTo>
                  <a:cubicBezTo>
                    <a:pt x="5620866" y="1451946"/>
                    <a:pt x="5606909" y="1465903"/>
                    <a:pt x="5589693" y="1465903"/>
                  </a:cubicBezTo>
                  <a:lnTo>
                    <a:pt x="31173" y="1465903"/>
                  </a:lnTo>
                  <a:cubicBezTo>
                    <a:pt x="13957" y="1465903"/>
                    <a:pt x="0" y="1451946"/>
                    <a:pt x="0" y="1434730"/>
                  </a:cubicBezTo>
                  <a:lnTo>
                    <a:pt x="0" y="31173"/>
                  </a:lnTo>
                  <a:cubicBezTo>
                    <a:pt x="0" y="13957"/>
                    <a:pt x="13957" y="0"/>
                    <a:pt x="31173" y="0"/>
                  </a:cubicBezTo>
                  <a:close/>
                </a:path>
              </a:pathLst>
            </a:custGeom>
            <a:solidFill>
              <a:srgbClr val="FA643F"/>
            </a:solidFill>
            <a:ln cap="rnd">
              <a:noFill/>
              <a:prstDash val="sysDot"/>
              <a:round/>
            </a:ln>
          </p:spPr>
        </p:sp>
        <p:sp>
          <p:nvSpPr>
            <p:cNvPr name="TextBox 5" id="5"/>
            <p:cNvSpPr txBox="true"/>
            <p:nvPr/>
          </p:nvSpPr>
          <p:spPr>
            <a:xfrm>
              <a:off x="0" y="-47625"/>
              <a:ext cx="5620866" cy="1513528"/>
            </a:xfrm>
            <a:prstGeom prst="rect">
              <a:avLst/>
            </a:prstGeom>
          </p:spPr>
          <p:txBody>
            <a:bodyPr anchor="ctr" rtlCol="false" tIns="254000" lIns="254000" bIns="254000" rIns="254000"/>
            <a:lstStyle/>
            <a:p>
              <a:pPr algn="l">
                <a:lnSpc>
                  <a:spcPts val="2380"/>
                </a:lnSpc>
              </a:pPr>
              <a:r>
                <a:rPr lang="en-US" sz="1700" b="true">
                  <a:solidFill>
                    <a:srgbClr val="000000"/>
                  </a:solidFill>
                  <a:latin typeface="Nanum Gothic Bold"/>
                  <a:ea typeface="Nanum Gothic Bold"/>
                  <a:cs typeface="Nanum Gothic Bold"/>
                  <a:sym typeface="Nanum Gothic Bold"/>
                </a:rPr>
                <a:t>Paper: Benedicto, Flobak, Ponce-de-León, Valencia</a:t>
              </a:r>
            </a:p>
            <a:p>
              <a:pPr algn="l">
                <a:lnSpc>
                  <a:spcPts val="2380"/>
                </a:lnSpc>
              </a:pPr>
              <a:r>
                <a:rPr lang="en-US" sz="1700" b="true">
                  <a:solidFill>
                    <a:srgbClr val="000000"/>
                  </a:solidFill>
                  <a:latin typeface="Nanum Gothic Bold"/>
                  <a:ea typeface="Nanum Gothic Bold"/>
                  <a:cs typeface="Nanum Gothic Bold"/>
                  <a:sym typeface="Nanum Gothic Bold"/>
                </a:rPr>
                <a:t>npj Systems Biology and Applications 11:111 (2025)</a:t>
              </a:r>
            </a:p>
            <a:p>
              <a:pPr algn="l">
                <a:lnSpc>
                  <a:spcPts val="2380"/>
                </a:lnSpc>
              </a:pPr>
              <a:r>
                <a:rPr lang="en-US" sz="1700" b="true">
                  <a:solidFill>
                    <a:srgbClr val="FFFFFF"/>
                  </a:solidFill>
                  <a:latin typeface="Nanum Gothic Bold"/>
                  <a:ea typeface="Nanum Gothic Bold"/>
                  <a:cs typeface="Nanum Gothic Bold"/>
                  <a:sym typeface="Nanum Gothic Bold"/>
                </a:rPr>
                <a:t>Data: GEO GSE285616 · Code: MTEApy (open source)</a:t>
              </a:r>
            </a:p>
          </p:txBody>
        </p:sp>
      </p:grpSp>
      <p:sp>
        <p:nvSpPr>
          <p:cNvPr name="TextBox 6" id="6"/>
          <p:cNvSpPr txBox="true"/>
          <p:nvPr/>
        </p:nvSpPr>
        <p:spPr>
          <a:xfrm rot="0">
            <a:off x="1725051" y="2231701"/>
            <a:ext cx="6196665" cy="1390650"/>
          </a:xfrm>
          <a:prstGeom prst="rect">
            <a:avLst/>
          </a:prstGeom>
        </p:spPr>
        <p:txBody>
          <a:bodyPr anchor="t" rtlCol="false" tIns="0" lIns="0" bIns="0" rIns="0">
            <a:spAutoFit/>
          </a:bodyPr>
          <a:lstStyle/>
          <a:p>
            <a:pPr algn="l" marL="0" indent="0" lvl="0">
              <a:lnSpc>
                <a:spcPts val="10800"/>
              </a:lnSpc>
              <a:spcBef>
                <a:spcPct val="0"/>
              </a:spcBef>
            </a:pPr>
            <a:r>
              <a:rPr lang="en-US" b="true" sz="9000">
                <a:solidFill>
                  <a:srgbClr val="000000"/>
                </a:solidFill>
                <a:latin typeface="Nanum Gothic Bold"/>
                <a:ea typeface="Nanum Gothic Bold"/>
                <a:cs typeface="Nanum Gothic Bold"/>
                <a:sym typeface="Nanum Gothic Bold"/>
              </a:rPr>
              <a:t>Outline</a:t>
            </a:r>
          </a:p>
        </p:txBody>
      </p:sp>
      <p:sp>
        <p:nvSpPr>
          <p:cNvPr name="TextBox 7" id="7"/>
          <p:cNvSpPr txBox="true"/>
          <p:nvPr/>
        </p:nvSpPr>
        <p:spPr>
          <a:xfrm rot="0">
            <a:off x="1725051" y="1553432"/>
            <a:ext cx="567361" cy="365125"/>
          </a:xfrm>
          <a:prstGeom prst="rect">
            <a:avLst/>
          </a:prstGeom>
        </p:spPr>
        <p:txBody>
          <a:bodyPr anchor="t" rtlCol="false" tIns="0" lIns="0" bIns="0" rIns="0">
            <a:spAutoFit/>
          </a:bodyPr>
          <a:lstStyle/>
          <a:p>
            <a:pPr algn="l">
              <a:lnSpc>
                <a:spcPts val="2749"/>
              </a:lnSpc>
            </a:pPr>
            <a:r>
              <a:rPr lang="en-US" sz="2499" b="true">
                <a:solidFill>
                  <a:srgbClr val="FA643F"/>
                </a:solidFill>
                <a:latin typeface="Nanum Gothic Bold"/>
                <a:ea typeface="Nanum Gothic Bold"/>
                <a:cs typeface="Nanum Gothic Bold"/>
                <a:sym typeface="Nanum Gothic Bold"/>
              </a:rPr>
              <a:t>02</a:t>
            </a:r>
          </a:p>
        </p:txBody>
      </p:sp>
      <p:sp>
        <p:nvSpPr>
          <p:cNvPr name="TextBox 8" id="8"/>
          <p:cNvSpPr txBox="true"/>
          <p:nvPr/>
        </p:nvSpPr>
        <p:spPr>
          <a:xfrm rot="0">
            <a:off x="11619513" y="5301575"/>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Take-home</a:t>
            </a:r>
          </a:p>
        </p:txBody>
      </p:sp>
      <p:sp>
        <p:nvSpPr>
          <p:cNvPr name="TextBox 9" id="9"/>
          <p:cNvSpPr txBox="true"/>
          <p:nvPr/>
        </p:nvSpPr>
        <p:spPr>
          <a:xfrm rot="0">
            <a:off x="2349331" y="5301575"/>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Background</a:t>
            </a:r>
          </a:p>
        </p:txBody>
      </p:sp>
      <p:sp>
        <p:nvSpPr>
          <p:cNvPr name="TextBox 10" id="10"/>
          <p:cNvSpPr txBox="true"/>
          <p:nvPr/>
        </p:nvSpPr>
        <p:spPr>
          <a:xfrm rot="0">
            <a:off x="6984422" y="5301575"/>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Cross-check · Fig. 5</a:t>
            </a:r>
          </a:p>
        </p:txBody>
      </p:sp>
      <p:sp>
        <p:nvSpPr>
          <p:cNvPr name="TextBox 11" id="11"/>
          <p:cNvSpPr txBox="true"/>
          <p:nvPr/>
        </p:nvSpPr>
        <p:spPr>
          <a:xfrm rot="0">
            <a:off x="2349331" y="6181762"/>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Method</a:t>
            </a:r>
          </a:p>
        </p:txBody>
      </p:sp>
      <p:sp>
        <p:nvSpPr>
          <p:cNvPr name="TextBox 12" id="12"/>
          <p:cNvSpPr txBox="true"/>
          <p:nvPr/>
        </p:nvSpPr>
        <p:spPr>
          <a:xfrm rot="0">
            <a:off x="6984422" y="6181762"/>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My re-analysis</a:t>
            </a:r>
          </a:p>
        </p:txBody>
      </p:sp>
      <p:sp>
        <p:nvSpPr>
          <p:cNvPr name="TextBox 13" id="13"/>
          <p:cNvSpPr txBox="true"/>
          <p:nvPr/>
        </p:nvSpPr>
        <p:spPr>
          <a:xfrm rot="0">
            <a:off x="11619513" y="6181762"/>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Questions</a:t>
            </a:r>
          </a:p>
        </p:txBody>
      </p:sp>
      <p:sp>
        <p:nvSpPr>
          <p:cNvPr name="TextBox 14" id="14"/>
          <p:cNvSpPr txBox="true"/>
          <p:nvPr/>
        </p:nvSpPr>
        <p:spPr>
          <a:xfrm rot="0">
            <a:off x="2349331" y="7061949"/>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Result 1 · Fig. 3</a:t>
            </a:r>
          </a:p>
        </p:txBody>
      </p:sp>
      <p:sp>
        <p:nvSpPr>
          <p:cNvPr name="TextBox 15" id="15"/>
          <p:cNvSpPr txBox="true"/>
          <p:nvPr/>
        </p:nvSpPr>
        <p:spPr>
          <a:xfrm rot="0">
            <a:off x="6984422" y="7061949"/>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Assessment</a:t>
            </a:r>
          </a:p>
        </p:txBody>
      </p:sp>
      <p:sp>
        <p:nvSpPr>
          <p:cNvPr name="TextBox 16" id="16"/>
          <p:cNvSpPr txBox="true"/>
          <p:nvPr/>
        </p:nvSpPr>
        <p:spPr>
          <a:xfrm rot="0">
            <a:off x="11619513" y="7061949"/>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Backup · Fig. 1, Fig. 2</a:t>
            </a:r>
          </a:p>
        </p:txBody>
      </p:sp>
      <p:sp>
        <p:nvSpPr>
          <p:cNvPr name="TextBox 17" id="17"/>
          <p:cNvSpPr txBox="true"/>
          <p:nvPr/>
        </p:nvSpPr>
        <p:spPr>
          <a:xfrm rot="0">
            <a:off x="2349331" y="7942136"/>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Result 2 · Fig. 4</a:t>
            </a:r>
          </a:p>
        </p:txBody>
      </p:sp>
      <p:sp>
        <p:nvSpPr>
          <p:cNvPr name="TextBox 18" id="18"/>
          <p:cNvSpPr txBox="true"/>
          <p:nvPr/>
        </p:nvSpPr>
        <p:spPr>
          <a:xfrm rot="0">
            <a:off x="6984422" y="7942136"/>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Relevance</a:t>
            </a:r>
          </a:p>
        </p:txBody>
      </p:sp>
      <p:sp>
        <p:nvSpPr>
          <p:cNvPr name="TextBox 19" id="19"/>
          <p:cNvSpPr txBox="true"/>
          <p:nvPr/>
        </p:nvSpPr>
        <p:spPr>
          <a:xfrm rot="0">
            <a:off x="11619513" y="7942136"/>
            <a:ext cx="4206240" cy="349250"/>
          </a:xfrm>
          <a:prstGeom prst="rect">
            <a:avLst/>
          </a:prstGeom>
        </p:spPr>
        <p:txBody>
          <a:bodyPr anchor="t" rtlCol="false" tIns="0" lIns="0" bIns="0" rIns="0">
            <a:spAutoFit/>
          </a:bodyPr>
          <a:lstStyle/>
          <a:p>
            <a:pPr algn="l">
              <a:lnSpc>
                <a:spcPts val="2800"/>
              </a:lnSpc>
            </a:pPr>
            <a:r>
              <a:rPr lang="en-US" sz="2000">
                <a:solidFill>
                  <a:srgbClr val="000000"/>
                </a:solidFill>
                <a:latin typeface="Nanum Gothic"/>
                <a:ea typeface="Nanum Gothic"/>
                <a:cs typeface="Nanum Gothic"/>
                <a:sym typeface="Nanum Gothic"/>
              </a:rPr>
              <a:t>Backup · Table 1, terms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1300" y="8602373"/>
            <a:ext cx="3575146" cy="655927"/>
            <a:chOff x="0" y="0"/>
            <a:chExt cx="4766862" cy="874569"/>
          </a:xfrm>
        </p:grpSpPr>
        <p:grpSp>
          <p:nvGrpSpPr>
            <p:cNvPr name="Group 3" id="3"/>
            <p:cNvGrpSpPr/>
            <p:nvPr/>
          </p:nvGrpSpPr>
          <p:grpSpPr>
            <a:xfrm rot="0">
              <a:off x="0" y="0"/>
              <a:ext cx="4766862" cy="874569"/>
              <a:chOff x="0" y="0"/>
              <a:chExt cx="5150908" cy="945029"/>
            </a:xfrm>
          </p:grpSpPr>
          <p:sp>
            <p:nvSpPr>
              <p:cNvPr name="Freeform 4" id="4"/>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5" id="5"/>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Background</a:t>
              </a:r>
            </a:p>
          </p:txBody>
        </p:sp>
      </p:grpSp>
      <p:sp>
        <p:nvSpPr>
          <p:cNvPr name="TextBox 8" id="8"/>
          <p:cNvSpPr txBox="true"/>
          <p:nvPr/>
        </p:nvSpPr>
        <p:spPr>
          <a:xfrm rot="0">
            <a:off x="1511300" y="1861227"/>
            <a:ext cx="567361" cy="365125"/>
          </a:xfrm>
          <a:prstGeom prst="rect">
            <a:avLst/>
          </a:prstGeom>
        </p:spPr>
        <p:txBody>
          <a:bodyPr anchor="t" rtlCol="false" tIns="0" lIns="0" bIns="0" rIns="0">
            <a:spAutoFit/>
          </a:bodyPr>
          <a:lstStyle/>
          <a:p>
            <a:pPr algn="l">
              <a:lnSpc>
                <a:spcPts val="2749"/>
              </a:lnSpc>
            </a:pPr>
            <a:r>
              <a:rPr lang="en-US" sz="2499" b="true">
                <a:solidFill>
                  <a:srgbClr val="FA643F"/>
                </a:solidFill>
                <a:latin typeface="Nanum Gothic Bold"/>
                <a:ea typeface="Nanum Gothic Bold"/>
                <a:cs typeface="Nanum Gothic Bold"/>
                <a:sym typeface="Nanum Gothic Bold"/>
              </a:rPr>
              <a:t>03</a:t>
            </a:r>
          </a:p>
        </p:txBody>
      </p:sp>
      <p:grpSp>
        <p:nvGrpSpPr>
          <p:cNvPr name="Group 9" id="9"/>
          <p:cNvGrpSpPr/>
          <p:nvPr/>
        </p:nvGrpSpPr>
        <p:grpSpPr>
          <a:xfrm rot="0">
            <a:off x="1511300" y="2558546"/>
            <a:ext cx="7906642" cy="3166871"/>
            <a:chOff x="0" y="0"/>
            <a:chExt cx="10542190" cy="4222495"/>
          </a:xfrm>
        </p:grpSpPr>
        <p:sp>
          <p:nvSpPr>
            <p:cNvPr name="TextBox 10" id="10"/>
            <p:cNvSpPr txBox="true"/>
            <p:nvPr/>
          </p:nvSpPr>
          <p:spPr>
            <a:xfrm rot="0">
              <a:off x="0" y="0"/>
              <a:ext cx="10542190" cy="1409700"/>
            </a:xfrm>
            <a:prstGeom prst="rect">
              <a:avLst/>
            </a:prstGeom>
          </p:spPr>
          <p:txBody>
            <a:bodyPr anchor="t" rtlCol="false" tIns="0" lIns="0" bIns="0" rIns="0">
              <a:spAutoFit/>
            </a:bodyPr>
            <a:lstStyle/>
            <a:p>
              <a:pPr algn="l" marL="0" indent="0" lvl="0">
                <a:lnSpc>
                  <a:spcPts val="8399"/>
                </a:lnSpc>
                <a:spcBef>
                  <a:spcPct val="0"/>
                </a:spcBef>
              </a:pPr>
              <a:r>
                <a:rPr lang="en-US" b="true" sz="6999">
                  <a:solidFill>
                    <a:srgbClr val="000000"/>
                  </a:solidFill>
                  <a:latin typeface="Nanum Gothic Bold"/>
                  <a:ea typeface="Nanum Gothic Bold"/>
                  <a:cs typeface="Nanum Gothic Bold"/>
                  <a:sym typeface="Nanum Gothic Bold"/>
                </a:rPr>
                <a:t>Background</a:t>
              </a:r>
            </a:p>
          </p:txBody>
        </p:sp>
        <p:sp>
          <p:nvSpPr>
            <p:cNvPr name="TextBox 11" id="11"/>
            <p:cNvSpPr txBox="true"/>
            <p:nvPr/>
          </p:nvSpPr>
          <p:spPr>
            <a:xfrm rot="0">
              <a:off x="0" y="1809750"/>
              <a:ext cx="10542190" cy="2364485"/>
            </a:xfrm>
            <a:prstGeom prst="rect">
              <a:avLst/>
            </a:prstGeom>
          </p:spPr>
          <p:txBody>
            <a:bodyPr anchor="t" rtlCol="false" tIns="0" lIns="0" bIns="0" rIns="0">
              <a:spAutoFit/>
            </a:bodyPr>
            <a:lstStyle/>
            <a:p>
              <a:pPr algn="l" marL="582932" indent="-291466" lvl="1">
                <a:lnSpc>
                  <a:spcPct val="100000"/>
                </a:lnSpc>
                <a:spcBef>
                  <a:spcPts val="0"/>
                </a:spcBef>
                <a:spcAft>
                  <a:spcPts val="900"/>
                </a:spcAft>
                <a:buFont typeface="Arial"/>
                <a:buChar char="•"/>
              </a:pPr>
              <a:r>
                <a:rPr lang="en-US" sz="2200">
                  <a:solidFill>
                    <a:srgbClr val="000000"/>
                  </a:solidFill>
                  <a:latin typeface="Nanum Gothic"/>
                  <a:ea typeface="Nanum Gothic"/>
                  <a:cs typeface="Nanum Gothic"/>
                  <a:sym typeface="Nanum Gothic"/>
                </a:rPr>
                <a:t>Cancer cells rewire metabolism under PI3K, MEK and TAK1 signaling</a:t>
              </a:r>
            </a:p>
            <a:p>
              <a:pPr algn="l" marL="582932" indent="-291466" lvl="1">
                <a:lnSpc>
                  <a:spcPct val="100000"/>
                </a:lnSpc>
                <a:spcBef>
                  <a:spcPts val="0"/>
                </a:spcBef>
                <a:spcAft>
                  <a:spcPts val="900"/>
                </a:spcAft>
                <a:buFont typeface="Arial"/>
                <a:buChar char="•"/>
              </a:pPr>
              <a:r>
                <a:rPr lang="en-US" sz="2200">
                  <a:solidFill>
                    <a:srgbClr val="000000"/>
                  </a:solidFill>
                  <a:latin typeface="Nanum Gothic"/>
                  <a:ea typeface="Nanum Gothic"/>
                  <a:cs typeface="Nanum Gothic"/>
                  <a:sym typeface="Nanum Gothic"/>
                </a:rPr>
                <a:t>PI3Ki+MEKi and PI3Ki+TAKi inhibit AGS growth synergistically</a:t>
              </a:r>
            </a:p>
            <a:p>
              <a:pPr algn="l" marL="582932" indent="-291466" lvl="1">
                <a:lnSpc>
                  <a:spcPct val="100000"/>
                </a:lnSpc>
                <a:spcBef>
                  <a:spcPts val="0"/>
                </a:spcBef>
                <a:spcAft>
                  <a:spcPts val="900"/>
                </a:spcAft>
                <a:buFont typeface="Arial"/>
                <a:buChar char="•"/>
              </a:pPr>
              <a:r>
                <a:rPr lang="en-US" sz="2200">
                  <a:solidFill>
                    <a:srgbClr val="000000"/>
                  </a:solidFill>
                  <a:latin typeface="Nanum Gothic"/>
                  <a:ea typeface="Nanum Gothic"/>
                  <a:cs typeface="Nanum Gothic"/>
                  <a:sym typeface="Nanum Gothic"/>
                </a:rPr>
                <a:t>Gap: expression analysis gives broad labels, not metabolic detail</a:t>
              </a:r>
            </a:p>
            <a:p>
              <a:pPr algn="l" marL="582932" indent="-291466" lvl="1">
                <a:lnSpc>
                  <a:spcPct val="100000"/>
                </a:lnSpc>
                <a:spcBef>
                  <a:spcPts val="0"/>
                </a:spcBef>
                <a:spcAft>
                  <a:spcPts val="900"/>
                </a:spcAft>
                <a:buFont typeface="Arial"/>
                <a:buChar char="•"/>
              </a:pPr>
              <a:r>
                <a:rPr lang="en-US" sz="2200">
                  <a:solidFill>
                    <a:srgbClr val="000000"/>
                  </a:solidFill>
                  <a:latin typeface="Nanum Gothic"/>
                  <a:ea typeface="Nanum Gothic"/>
                  <a:cs typeface="Nanum Gothic"/>
                  <a:sym typeface="Nanum Gothic"/>
                </a:rPr>
                <a:t>Question: which metabolic tasks change, and which only in the combination?</a:t>
              </a:r>
            </a:p>
          </p:txBody>
        </p:sp>
      </p:grpSp>
      <p:sp>
        <p:nvSpPr>
          <p:cNvPr id="12" name="Rectangle 11"/>
          <p:cNvSpPr/>
          <p:nvPr/>
        </p:nvSpPr>
        <p:spPr>
          <a:xfrm>
            <a:off x="11795760" y="1024128"/>
            <a:ext cx="5486400" cy="8229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252960" y="1554480"/>
            <a:ext cx="4572000" cy="548640"/>
          </a:xfrm>
          <a:prstGeom prst="rect">
            <a:avLst/>
          </a:prstGeom>
          <a:noFill/>
        </p:spPr>
        <p:txBody>
          <a:bodyPr wrap="square" lIns="0" rIns="0" tIns="0" bIns="0">
            <a:spAutoFit/>
          </a:bodyPr>
          <a:lstStyle/>
          <a:p>
            <a:r>
              <a:rPr sz="2700" b="1">
                <a:solidFill>
                  <a:srgbClr val="000000"/>
                </a:solidFill>
                <a:latin typeface="Nanum Gothic Bold"/>
              </a:rPr>
              <a:t>The system</a:t>
            </a:r>
          </a:p>
        </p:txBody>
      </p:sp>
      <p:cxnSp>
        <p:nvCxnSpPr>
          <p:cNvPr id="14" name="Connector 13"/>
          <p:cNvCxnSpPr/>
          <p:nvPr/>
        </p:nvCxnSpPr>
        <p:spPr>
          <a:xfrm>
            <a:off x="12252960" y="2240280"/>
            <a:ext cx="457200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252960" y="2514600"/>
            <a:ext cx="4572000" cy="5486400"/>
          </a:xfrm>
          <a:prstGeom prst="rect">
            <a:avLst/>
          </a:prstGeom>
          <a:noFill/>
        </p:spPr>
        <p:txBody>
          <a:bodyPr wrap="square" lIns="0" rIns="0" tIns="0" bIns="0">
            <a:spAutoFit/>
          </a:bodyPr>
          <a:lstStyle/>
          <a:p>
            <a:pPr marL="292608" indent="-292608">
              <a:spcAft>
                <a:spcPts val="1400"/>
              </a:spcAft>
              <a:buFont typeface="Arial"/>
              <a:buChar char="•"/>
            </a:pPr>
            <a:r>
              <a:rPr sz="2100" b="0">
                <a:solidFill>
                  <a:srgbClr val="000000"/>
                </a:solidFill>
                <a:latin typeface="Nanum Gothic"/>
              </a:rPr>
              <a:t>AGS gastric adenocarcinoma cells</a:t>
            </a:r>
          </a:p>
          <a:p>
            <a:pPr marL="292608" indent="-292608">
              <a:spcAft>
                <a:spcPts val="1400"/>
              </a:spcAft>
              <a:buFont typeface="Arial"/>
              <a:buChar char="•"/>
            </a:pPr>
            <a:r>
              <a:rPr sz="2100" b="0">
                <a:solidFill>
                  <a:srgbClr val="000000"/>
                </a:solidFill>
                <a:latin typeface="Nanum Gothic"/>
              </a:rPr>
              <a:t>PI3K inhibitor PI-103 (PI3Ki)</a:t>
            </a:r>
          </a:p>
          <a:p>
            <a:pPr marL="292608" indent="-292608">
              <a:spcAft>
                <a:spcPts val="1400"/>
              </a:spcAft>
              <a:buFont typeface="Arial"/>
              <a:buChar char="•"/>
            </a:pPr>
            <a:r>
              <a:rPr sz="2100" b="0">
                <a:solidFill>
                  <a:srgbClr val="000000"/>
                </a:solidFill>
                <a:latin typeface="Nanum Gothic"/>
              </a:rPr>
              <a:t>MEK inhibitor PD0325901 (MEKi)</a:t>
            </a:r>
          </a:p>
          <a:p>
            <a:pPr marL="292608" indent="-292608">
              <a:spcAft>
                <a:spcPts val="1400"/>
              </a:spcAft>
              <a:buFont typeface="Arial"/>
              <a:buChar char="•"/>
            </a:pPr>
            <a:r>
              <a:rPr sz="2100" b="0">
                <a:solidFill>
                  <a:srgbClr val="000000"/>
                </a:solidFill>
                <a:latin typeface="Nanum Gothic"/>
              </a:rPr>
              <a:t>TAK1 inhibitor (5Z)-7-oxozeaenol (TAKi)</a:t>
            </a:r>
          </a:p>
          <a:p>
            <a:pPr marL="292608" indent="-292608">
              <a:spcAft>
                <a:spcPts val="1400"/>
              </a:spcAft>
              <a:buFont typeface="Arial"/>
              <a:buChar char="•"/>
            </a:pPr>
            <a:r>
              <a:rPr sz="2100" b="0">
                <a:solidFill>
                  <a:srgbClr val="000000"/>
                </a:solidFill>
                <a:latin typeface="Nanum Gothic"/>
              </a:rPr>
              <a:t>Two combinations: PI3Ki+MEKi, PI3Ki+TAKi</a:t>
            </a:r>
          </a:p>
          <a:p>
            <a:pPr marL="292608" indent="-292608">
              <a:spcAft>
                <a:spcPts val="1400"/>
              </a:spcAft>
              <a:buFont typeface="Arial"/>
              <a:buChar char="•"/>
            </a:pPr>
            <a:r>
              <a:rPr sz="2100" b="0">
                <a:solidFill>
                  <a:srgbClr val="000000"/>
                </a:solidFill>
                <a:latin typeface="Nanum Gothic"/>
              </a:rPr>
              <a:t>Control: DMSO; 4 replicates per condition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7597" y="5478500"/>
            <a:ext cx="4523384" cy="3765513"/>
            <a:chOff x="0" y="0"/>
            <a:chExt cx="700791" cy="583376"/>
          </a:xfrm>
        </p:grpSpPr>
        <p:sp>
          <p:nvSpPr>
            <p:cNvPr name="Freeform 3" id="3"/>
            <p:cNvSpPr/>
            <p:nvPr/>
          </p:nvSpPr>
          <p:spPr>
            <a:xfrm flipH="false" flipV="false" rot="0">
              <a:off x="0" y="0"/>
              <a:ext cx="700791" cy="583376"/>
            </a:xfrm>
            <a:custGeom>
              <a:avLst/>
              <a:gdLst/>
              <a:ahLst/>
              <a:cxnLst/>
              <a:rect r="r" b="b" t="t" l="l"/>
              <a:pathLst>
                <a:path h="583376" w="700791">
                  <a:moveTo>
                    <a:pt x="0" y="0"/>
                  </a:moveTo>
                  <a:lnTo>
                    <a:pt x="700791" y="0"/>
                  </a:lnTo>
                  <a:lnTo>
                    <a:pt x="700791" y="583376"/>
                  </a:lnTo>
                  <a:lnTo>
                    <a:pt x="0" y="583376"/>
                  </a:lnTo>
                  <a:close/>
                </a:path>
              </a:pathLst>
            </a:custGeom>
            <a:solidFill>
              <a:srgbClr val="F1F1F1"/>
            </a:solidFill>
          </p:spPr>
        </p:sp>
        <p:sp>
          <p:nvSpPr>
            <p:cNvPr name="TextBox 4" id="4"/>
            <p:cNvSpPr txBox="true"/>
            <p:nvPr/>
          </p:nvSpPr>
          <p:spPr>
            <a:xfrm>
              <a:off x="0" y="-57150"/>
              <a:ext cx="700791" cy="640526"/>
            </a:xfrm>
            <a:prstGeom prst="rect">
              <a:avLst/>
            </a:prstGeom>
          </p:spPr>
          <p:txBody>
            <a:bodyPr anchor="ctr" rtlCol="false" tIns="50800" lIns="50800" bIns="50800" rIns="50800"/>
            <a:lstStyle/>
            <a:p>
              <a:pPr algn="ctr">
                <a:lnSpc>
                  <a:spcPts val="3499"/>
                </a:lnSpc>
              </a:pPr>
              <a:r>
                <a:rPr lang="en-US" sz="2200" b="true">
                  <a:solidFill>
                    <a:srgbClr val="000000"/>
                  </a:solidFill>
                  <a:latin typeface="Nanum Gothic Bold"/>
                  <a:ea typeface="Nanum Gothic Bold"/>
                  <a:cs typeface="Nanum Gothic Bold"/>
                  <a:sym typeface="Nanum Gothic Bold"/>
                </a:rPr>
                <a:t>1  RNA-seq and DESeq2</a:t>
              </a:r>
            </a:p>
            <a:p>
              <a:pPr algn="ctr">
                <a:lnSpc>
                  <a:spcPts val="3499"/>
                </a:lnSpc>
              </a:pPr>
              <a:r>
                <a:rPr lang="en-US" sz="2200" b="true">
                  <a:solidFill>
                    <a:srgbClr val="000000"/>
                  </a:solidFill>
                  <a:latin typeface="Nanum Gothic Bold"/>
                  <a:ea typeface="Nanum Gothic Bold"/>
                  <a:cs typeface="Nanum Gothic Bold"/>
                  <a:sym typeface="Nanum Gothic Bold"/>
                </a:rPr>
                <a:t>6 conditions × 4 replicates</a:t>
              </a:r>
            </a:p>
            <a:p>
              <a:pPr algn="ctr">
                <a:lnSpc>
                  <a:spcPts val="3499"/>
                </a:lnSpc>
              </a:pPr>
              <a:r>
                <a:rPr lang="en-US" sz="2200" b="true">
                  <a:solidFill>
                    <a:srgbClr val="000000"/>
                  </a:solidFill>
                  <a:latin typeface="Nanum Gothic Bold"/>
                  <a:ea typeface="Nanum Gothic Bold"/>
                  <a:cs typeface="Nanum Gothic Bold"/>
                  <a:sym typeface="Nanum Gothic Bold"/>
                </a:rPr>
                <a:t>log2FC against DMSO control</a:t>
              </a:r>
            </a:p>
          </p:txBody>
        </p:sp>
      </p:grpSp>
      <p:grpSp>
        <p:nvGrpSpPr>
          <p:cNvPr name="Group 5" id="5"/>
          <p:cNvGrpSpPr/>
          <p:nvPr/>
        </p:nvGrpSpPr>
        <p:grpSpPr>
          <a:xfrm rot="0">
            <a:off x="6882308" y="4644112"/>
            <a:ext cx="4523384" cy="4599901"/>
            <a:chOff x="0" y="0"/>
            <a:chExt cx="700791" cy="712645"/>
          </a:xfrm>
        </p:grpSpPr>
        <p:sp>
          <p:nvSpPr>
            <p:cNvPr name="Freeform 6" id="6"/>
            <p:cNvSpPr/>
            <p:nvPr/>
          </p:nvSpPr>
          <p:spPr>
            <a:xfrm flipH="false" flipV="false" rot="0">
              <a:off x="0" y="0"/>
              <a:ext cx="700791" cy="712645"/>
            </a:xfrm>
            <a:custGeom>
              <a:avLst/>
              <a:gdLst/>
              <a:ahLst/>
              <a:cxnLst/>
              <a:rect r="r" b="b" t="t" l="l"/>
              <a:pathLst>
                <a:path h="712645" w="700791">
                  <a:moveTo>
                    <a:pt x="0" y="0"/>
                  </a:moveTo>
                  <a:lnTo>
                    <a:pt x="700791" y="0"/>
                  </a:lnTo>
                  <a:lnTo>
                    <a:pt x="700791" y="712645"/>
                  </a:lnTo>
                  <a:lnTo>
                    <a:pt x="0" y="712645"/>
                  </a:lnTo>
                  <a:close/>
                </a:path>
              </a:pathLst>
            </a:custGeom>
            <a:solidFill>
              <a:srgbClr val="F1F1F1"/>
            </a:solidFill>
          </p:spPr>
        </p:sp>
        <p:sp>
          <p:nvSpPr>
            <p:cNvPr name="TextBox 7" id="7"/>
            <p:cNvSpPr txBox="true"/>
            <p:nvPr/>
          </p:nvSpPr>
          <p:spPr>
            <a:xfrm>
              <a:off x="0" y="-57150"/>
              <a:ext cx="700791" cy="769795"/>
            </a:xfrm>
            <a:prstGeom prst="rect">
              <a:avLst/>
            </a:prstGeom>
          </p:spPr>
          <p:txBody>
            <a:bodyPr anchor="ctr" rtlCol="false" tIns="50800" lIns="50800" bIns="50800" rIns="50800"/>
            <a:lstStyle/>
            <a:p>
              <a:pPr algn="ctr">
                <a:lnSpc>
                  <a:spcPts val="3499"/>
                </a:lnSpc>
              </a:pPr>
              <a:r>
                <a:rPr lang="en-US" b="true" sz="2200">
                  <a:solidFill>
                    <a:srgbClr val="000000"/>
                  </a:solidFill>
                  <a:latin typeface="Nanum Gothic Bold"/>
                  <a:ea typeface="Nanum Gothic Bold"/>
                  <a:cs typeface="Nanum Gothic Bold"/>
                  <a:sym typeface="Nanum Gothic Bold"/>
                </a:rPr>
                <a:t>2  Metabolic map</a:t>
              </a:r>
            </a:p>
            <a:p>
              <a:pPr algn="ctr">
                <a:lnSpc>
                  <a:spcPts val="3499"/>
                </a:lnSpc>
              </a:pPr>
              <a:r>
                <a:rPr lang="en-US" b="true" sz="2200">
                  <a:solidFill>
                    <a:srgbClr val="000000"/>
                  </a:solidFill>
                  <a:latin typeface="Nanum Gothic Bold"/>
                  <a:ea typeface="Nanum Gothic Bold"/>
                  <a:cs typeface="Nanum Gothic Bold"/>
                  <a:sym typeface="Nanum Gothic Bold"/>
                </a:rPr>
                <a:t>Human-GEM and 187 tasks</a:t>
              </a:r>
            </a:p>
            <a:p>
              <a:pPr algn="ctr">
                <a:lnSpc>
                  <a:spcPts val="3499"/>
                </a:lnSpc>
              </a:pPr>
              <a:r>
                <a:rPr lang="en-US" b="true" sz="2200">
                  <a:solidFill>
                    <a:srgbClr val="000000"/>
                  </a:solidFill>
                  <a:latin typeface="Nanum Gothic Bold"/>
                  <a:ea typeface="Nanum Gothic Bold"/>
                  <a:cs typeface="Nanum Gothic Bold"/>
                  <a:sym typeface="Nanum Gothic Bold"/>
                </a:rPr>
                <a:t>AND = min, OR = absmax</a:t>
              </a:r>
            </a:p>
            <a:p>
              <a:pPr algn="ctr">
                <a:lnSpc>
                  <a:spcPts val="3499"/>
                </a:lnSpc>
              </a:pPr>
              <a:r>
                <a:rPr lang="en-US" b="true" sz="2200">
                  <a:solidFill>
                    <a:srgbClr val="000000"/>
                  </a:solidFill>
                  <a:latin typeface="Nanum Gothic Bold"/>
                  <a:ea typeface="Nanum Gothic Bold"/>
                  <a:cs typeface="Nanum Gothic Bold"/>
                  <a:sym typeface="Nanum Gothic Bold"/>
                </a:rPr>
                <a:t>Task score = mean log2FC</a:t>
              </a:r>
            </a:p>
          </p:txBody>
        </p:sp>
      </p:grpSp>
      <p:grpSp>
        <p:nvGrpSpPr>
          <p:cNvPr name="Group 8" id="8"/>
          <p:cNvGrpSpPr/>
          <p:nvPr/>
        </p:nvGrpSpPr>
        <p:grpSpPr>
          <a:xfrm rot="0">
            <a:off x="12447019" y="3900469"/>
            <a:ext cx="4523384" cy="5343544"/>
            <a:chOff x="0" y="0"/>
            <a:chExt cx="700791" cy="827855"/>
          </a:xfrm>
        </p:grpSpPr>
        <p:sp>
          <p:nvSpPr>
            <p:cNvPr name="Freeform 9" id="9"/>
            <p:cNvSpPr/>
            <p:nvPr/>
          </p:nvSpPr>
          <p:spPr>
            <a:xfrm flipH="false" flipV="false" rot="0">
              <a:off x="0" y="0"/>
              <a:ext cx="700791" cy="827855"/>
            </a:xfrm>
            <a:custGeom>
              <a:avLst/>
              <a:gdLst/>
              <a:ahLst/>
              <a:cxnLst/>
              <a:rect r="r" b="b" t="t" l="l"/>
              <a:pathLst>
                <a:path h="827855" w="700791">
                  <a:moveTo>
                    <a:pt x="0" y="0"/>
                  </a:moveTo>
                  <a:lnTo>
                    <a:pt x="700791" y="0"/>
                  </a:lnTo>
                  <a:lnTo>
                    <a:pt x="700791" y="827855"/>
                  </a:lnTo>
                  <a:lnTo>
                    <a:pt x="0" y="827855"/>
                  </a:lnTo>
                  <a:close/>
                </a:path>
              </a:pathLst>
            </a:custGeom>
            <a:solidFill>
              <a:srgbClr val="F1F1F1"/>
            </a:solidFill>
          </p:spPr>
        </p:sp>
        <p:sp>
          <p:nvSpPr>
            <p:cNvPr name="TextBox 10" id="10"/>
            <p:cNvSpPr txBox="true"/>
            <p:nvPr/>
          </p:nvSpPr>
          <p:spPr>
            <a:xfrm>
              <a:off x="0" y="-57150"/>
              <a:ext cx="700791" cy="885005"/>
            </a:xfrm>
            <a:prstGeom prst="rect">
              <a:avLst/>
            </a:prstGeom>
          </p:spPr>
          <p:txBody>
            <a:bodyPr anchor="ctr" rtlCol="false" tIns="50800" lIns="50800" bIns="50800" rIns="50800"/>
            <a:lstStyle/>
            <a:p>
              <a:pPr algn="ctr">
                <a:lnSpc>
                  <a:spcPts val="3499"/>
                </a:lnSpc>
              </a:pPr>
              <a:r>
                <a:rPr lang="en-US" b="true" sz="2200">
                  <a:solidFill>
                    <a:srgbClr val="000000"/>
                  </a:solidFill>
                  <a:latin typeface="Nanum Gothic Bold"/>
                  <a:ea typeface="Nanum Gothic Bold"/>
                  <a:cs typeface="Nanum Gothic Bold"/>
                  <a:sym typeface="Nanum Gothic Bold"/>
                </a:rPr>
                <a:t>3  Test and rule</a:t>
              </a:r>
            </a:p>
            <a:p>
              <a:pPr algn="ctr">
                <a:lnSpc>
                  <a:spcPts val="3499"/>
                </a:lnSpc>
              </a:pPr>
              <a:r>
                <a:rPr lang="en-US" b="true" sz="2200">
                  <a:solidFill>
                    <a:srgbClr val="000000"/>
                  </a:solidFill>
                  <a:latin typeface="Nanum Gothic Bold"/>
                  <a:ea typeface="Nanum Gothic Bold"/>
                  <a:cs typeface="Nanum Gothic Bold"/>
                  <a:sym typeface="Nanum Gothic Bold"/>
                </a:rPr>
                <a:t>10,000 permutations, p &lt; 0.025</a:t>
              </a:r>
            </a:p>
            <a:p>
              <a:pPr algn="ctr">
                <a:lnSpc>
                  <a:spcPts val="3499"/>
                </a:lnSpc>
              </a:pPr>
              <a:r>
                <a:rPr lang="en-US" b="true" sz="2200">
                  <a:solidFill>
                    <a:srgbClr val="000000"/>
                  </a:solidFill>
                  <a:latin typeface="Nanum Gothic Bold"/>
                  <a:ea typeface="Nanum Gothic Bold"/>
                  <a:cs typeface="Nanum Gothic Bold"/>
                  <a:sym typeface="Nanum Gothic Bold"/>
                </a:rPr>
                <a:t>Weak synergy: beyond both single drugs</a:t>
              </a:r>
            </a:p>
            <a:p>
              <a:pPr algn="ctr">
                <a:lnSpc>
                  <a:spcPts val="3499"/>
                </a:lnSpc>
              </a:pPr>
              <a:r>
                <a:rPr lang="en-US" b="true" sz="2200">
                  <a:solidFill>
                    <a:srgbClr val="000000"/>
                  </a:solidFill>
                  <a:latin typeface="Nanum Gothic Bold"/>
                  <a:ea typeface="Nanum Gothic Bold"/>
                  <a:cs typeface="Nanum Gothic Bold"/>
                  <a:sym typeface="Nanum Gothic Bold"/>
                </a:rPr>
                <a:t>Strong synergy: only the combination</a:t>
              </a:r>
            </a:p>
          </p:txBody>
        </p:sp>
      </p:grpSp>
      <p:sp>
        <p:nvSpPr>
          <p:cNvPr name="AutoShape 14" id="14"/>
          <p:cNvSpPr/>
          <p:nvPr/>
        </p:nvSpPr>
        <p:spPr>
          <a:xfrm rot="2091">
            <a:off x="1317590" y="9234488"/>
            <a:ext cx="15652809" cy="0"/>
          </a:xfrm>
          <a:prstGeom prst="line">
            <a:avLst/>
          </a:prstGeom>
          <a:ln cap="flat" w="19050">
            <a:solidFill>
              <a:srgbClr val="FA643F"/>
            </a:solidFill>
            <a:prstDash val="solid"/>
            <a:headEnd type="none" len="sm" w="sm"/>
            <a:tailEnd type="none" len="sm" w="sm"/>
          </a:ln>
        </p:spPr>
      </p:sp>
      <p:grpSp>
        <p:nvGrpSpPr>
          <p:cNvPr name="Group 15" id="15"/>
          <p:cNvGrpSpPr/>
          <p:nvPr/>
        </p:nvGrpSpPr>
        <p:grpSpPr>
          <a:xfrm rot="0">
            <a:off x="13395257" y="1595665"/>
            <a:ext cx="3575146" cy="655927"/>
            <a:chOff x="0" y="0"/>
            <a:chExt cx="4766862" cy="874569"/>
          </a:xfrm>
        </p:grpSpPr>
        <p:grpSp>
          <p:nvGrpSpPr>
            <p:cNvPr name="Group 16" id="16"/>
            <p:cNvGrpSpPr/>
            <p:nvPr/>
          </p:nvGrpSpPr>
          <p:grpSpPr>
            <a:xfrm rot="0">
              <a:off x="0" y="0"/>
              <a:ext cx="4766862" cy="874569"/>
              <a:chOff x="0" y="0"/>
              <a:chExt cx="5150908" cy="945029"/>
            </a:xfrm>
          </p:grpSpPr>
          <p:sp>
            <p:nvSpPr>
              <p:cNvPr name="Freeform 17" id="17"/>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18" id="18"/>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Method</a:t>
              </a:r>
            </a:p>
          </p:txBody>
        </p:sp>
      </p:grpSp>
      <p:sp>
        <p:nvSpPr>
          <p:cNvPr id="19" name="TextBox 18"/>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04</a:t>
            </a:r>
          </a:p>
        </p:txBody>
      </p:sp>
      <p:sp>
        <p:nvSpPr>
          <p:cNvPr id="20" name="TextBox 19"/>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Method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Result 1 · Fig. 3</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05</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Result 1</a:t>
            </a:r>
          </a:p>
        </p:txBody>
      </p:sp>
      <p:pic>
        <p:nvPicPr>
          <p:cNvPr id="10" name="Picture 9" descr="fig3.png"/>
          <p:cNvPicPr>
            <a:picLocks noChangeAspect="1"/>
          </p:cNvPicPr>
          <p:nvPr/>
        </p:nvPicPr>
        <p:blipFill>
          <a:blip r:embed="rId4"/>
          <a:stretch>
            <a:fillRect/>
          </a:stretch>
        </p:blipFill>
        <p:spPr>
          <a:xfrm>
            <a:off x="1024128" y="2834640"/>
            <a:ext cx="11338560" cy="5341023"/>
          </a:xfrm>
          <a:prstGeom prst="rect">
            <a:avLst/>
          </a:prstGeom>
        </p:spPr>
      </p:pic>
      <p:sp>
        <p:nvSpPr>
          <p:cNvPr id="11" name="TextBox 10"/>
          <p:cNvSpPr txBox="1"/>
          <p:nvPr/>
        </p:nvSpPr>
        <p:spPr>
          <a:xfrm>
            <a:off x="1024128" y="8321040"/>
            <a:ext cx="11338560" cy="365760"/>
          </a:xfrm>
          <a:prstGeom prst="rect">
            <a:avLst/>
          </a:prstGeom>
          <a:noFill/>
        </p:spPr>
        <p:txBody>
          <a:bodyPr wrap="square" lIns="0" rIns="0" tIns="0" bIns="0">
            <a:spAutoFit/>
          </a:bodyPr>
          <a:lstStyle/>
          <a:p>
            <a:r>
              <a:rPr sz="1400" b="0">
                <a:solidFill>
                  <a:srgbClr val="6F6F6F"/>
                </a:solidFill>
                <a:latin typeface="Nanum Gothic"/>
              </a:rPr>
              <a:t>Source: Fig. 3, Benedicto et al. 2025 (CC BY-NC-ND 4.0). A tasks · B overlap · C systems · D shared tasks</a:t>
            </a:r>
          </a:p>
        </p:txBody>
      </p:sp>
      <p:sp>
        <p:nvSpPr>
          <p:cNvPr id="12" name="TextBox 11"/>
          <p:cNvSpPr txBox="1"/>
          <p:nvPr/>
        </p:nvSpPr>
        <p:spPr>
          <a:xfrm>
            <a:off x="12710160" y="2834640"/>
            <a:ext cx="4572000" cy="1287780"/>
          </a:xfrm>
          <a:prstGeom prst="rect">
            <a:avLst/>
          </a:prstGeom>
          <a:noFill/>
        </p:spPr>
        <p:txBody>
          <a:bodyPr wrap="square" lIns="0" rIns="0" tIns="0" bIns="0">
            <a:spAutoFit/>
          </a:bodyPr>
          <a:lstStyle/>
          <a:p>
            <a:r>
              <a:rPr sz="2600" b="1">
                <a:solidFill>
                  <a:srgbClr val="000000"/>
                </a:solidFill>
                <a:latin typeface="Nanum Gothic Bold"/>
              </a:rPr>
              <a:t>Metabolic tasks are weakened, led by PI3K inhibition</a:t>
            </a:r>
          </a:p>
        </p:txBody>
      </p:sp>
      <p:cxnSp>
        <p:nvCxnSpPr>
          <p:cNvPr id="13" name="Connector 12"/>
          <p:cNvCxnSpPr/>
          <p:nvPr/>
        </p:nvCxnSpPr>
        <p:spPr>
          <a:xfrm>
            <a:off x="12710160" y="4259580"/>
            <a:ext cx="457200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710160" y="4488180"/>
            <a:ext cx="4572000" cy="4114800"/>
          </a:xfrm>
          <a:prstGeom prst="rect">
            <a:avLst/>
          </a:prstGeom>
          <a:noFill/>
        </p:spPr>
        <p:txBody>
          <a:bodyPr wrap="square" lIns="0" rIns="0" tIns="0" bIns="0">
            <a:spAutoFit/>
          </a:bodyPr>
          <a:lstStyle/>
          <a:p>
            <a:pPr marL="292608" indent="-292608">
              <a:spcAft>
                <a:spcPts val="1100"/>
              </a:spcAft>
              <a:buFont typeface="Arial"/>
              <a:buChar char="•"/>
            </a:pPr>
            <a:r>
              <a:rPr sz="2100" b="0">
                <a:solidFill>
                  <a:srgbClr val="000000"/>
                </a:solidFill>
                <a:latin typeface="Nanum Gothic"/>
              </a:rPr>
              <a:t>77, 66 and 55 significant tasks in PI3Ki, PI3Ki+MEKi and PI3Ki+TAKi</a:t>
            </a:r>
          </a:p>
          <a:p>
            <a:pPr marL="292608" indent="-292608">
              <a:spcAft>
                <a:spcPts val="1100"/>
              </a:spcAft>
              <a:buFont typeface="Arial"/>
              <a:buChar char="•"/>
            </a:pPr>
            <a:r>
              <a:rPr sz="2100" b="0">
                <a:solidFill>
                  <a:srgbClr val="000000"/>
                </a:solidFill>
                <a:latin typeface="Nanum Gothic"/>
              </a:rPr>
              <a:t>About 88% of significant tasks are weakened, not strengthened</a:t>
            </a:r>
          </a:p>
          <a:p>
            <a:pPr marL="292608" indent="-292608">
              <a:spcAft>
                <a:spcPts val="1100"/>
              </a:spcAft>
              <a:buFont typeface="Arial"/>
              <a:buChar char="•"/>
            </a:pPr>
            <a:r>
              <a:rPr sz="2100" b="0">
                <a:solidFill>
                  <a:srgbClr val="000000"/>
                </a:solidFill>
                <a:latin typeface="Nanum Gothic"/>
              </a:rPr>
              <a:t>Asp → Asn synthesis: −5.9 in PI3Ki, weakened in all five conditions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Result 2 · Fig. 4</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06</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Result 2</a:t>
            </a:r>
          </a:p>
        </p:txBody>
      </p:sp>
      <p:pic>
        <p:nvPicPr>
          <p:cNvPr id="10" name="Picture 9" descr="fig4_AC.png"/>
          <p:cNvPicPr>
            <a:picLocks noChangeAspect="1"/>
          </p:cNvPicPr>
          <p:nvPr/>
        </p:nvPicPr>
        <p:blipFill>
          <a:blip r:embed="rId4"/>
          <a:stretch>
            <a:fillRect/>
          </a:stretch>
        </p:blipFill>
        <p:spPr>
          <a:xfrm>
            <a:off x="1024128" y="2743200"/>
            <a:ext cx="5861050" cy="5943600"/>
          </a:xfrm>
          <a:prstGeom prst="rect">
            <a:avLst/>
          </a:prstGeom>
        </p:spPr>
      </p:pic>
      <p:sp>
        <p:nvSpPr>
          <p:cNvPr id="11" name="TextBox 10"/>
          <p:cNvSpPr txBox="1"/>
          <p:nvPr/>
        </p:nvSpPr>
        <p:spPr>
          <a:xfrm>
            <a:off x="7955279" y="2834640"/>
            <a:ext cx="9326880" cy="924560"/>
          </a:xfrm>
          <a:prstGeom prst="rect">
            <a:avLst/>
          </a:prstGeom>
          <a:noFill/>
        </p:spPr>
        <p:txBody>
          <a:bodyPr wrap="square" lIns="0" rIns="0" tIns="0" bIns="0">
            <a:spAutoFit/>
          </a:bodyPr>
          <a:lstStyle/>
          <a:p>
            <a:r>
              <a:rPr sz="2800" b="1">
                <a:solidFill>
                  <a:srgbClr val="000000"/>
                </a:solidFill>
                <a:latin typeface="Nanum Gothic Bold"/>
              </a:rPr>
              <a:t>Some tasks are weakened only by the combination</a:t>
            </a:r>
          </a:p>
        </p:txBody>
      </p:sp>
      <p:cxnSp>
        <p:nvCxnSpPr>
          <p:cNvPr id="12" name="Connector 11"/>
          <p:cNvCxnSpPr/>
          <p:nvPr/>
        </p:nvCxnSpPr>
        <p:spPr>
          <a:xfrm>
            <a:off x="7955279" y="3896360"/>
            <a:ext cx="9326881"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55279" y="4124960"/>
            <a:ext cx="9326880" cy="4114800"/>
          </a:xfrm>
          <a:prstGeom prst="rect">
            <a:avLst/>
          </a:prstGeom>
          <a:noFill/>
        </p:spPr>
        <p:txBody>
          <a:bodyPr wrap="square" lIns="0" rIns="0" tIns="0" bIns="0">
            <a:spAutoFit/>
          </a:bodyPr>
          <a:lstStyle/>
          <a:p>
            <a:pPr marL="292608" indent="-292608">
              <a:spcAft>
                <a:spcPts val="1100"/>
              </a:spcAft>
              <a:buFont typeface="Arial"/>
              <a:buChar char="•"/>
            </a:pPr>
            <a:r>
              <a:rPr sz="2200" b="0">
                <a:solidFill>
                  <a:srgbClr val="000000"/>
                </a:solidFill>
                <a:latin typeface="Nanum Gothic"/>
              </a:rPr>
              <a:t>49 of 66 PI3Ki+MEKi tasks are classified synergistic (PI3Ki+TAKi: 14 of 55)</a:t>
            </a:r>
          </a:p>
          <a:p>
            <a:pPr marL="292608" indent="-292608">
              <a:spcAft>
                <a:spcPts val="1100"/>
              </a:spcAft>
              <a:buFont typeface="Arial"/>
              <a:buChar char="•"/>
            </a:pPr>
            <a:r>
              <a:rPr sz="2200" b="0">
                <a:solidFill>
                  <a:srgbClr val="000000"/>
                </a:solidFill>
                <a:latin typeface="Nanum Gothic"/>
              </a:rPr>
              <a:t>Weak synergy: the combination is more extreme than both single drugs</a:t>
            </a:r>
          </a:p>
          <a:p>
            <a:pPr marL="292608" indent="-292608">
              <a:spcAft>
                <a:spcPts val="1100"/>
              </a:spcAft>
              <a:buFont typeface="Arial"/>
              <a:buChar char="•"/>
            </a:pPr>
            <a:r>
              <a:rPr sz="2200" b="0">
                <a:solidFill>
                  <a:srgbClr val="000000"/>
                </a:solidFill>
                <a:latin typeface="Nanum Gothic"/>
              </a:rPr>
              <a:t>Strong synergy: only the combination is significant, e.g. spermidine synthesis, CoQ synthesis, thioredoxin reductase</a:t>
            </a:r>
          </a:p>
          <a:p>
            <a:pPr marL="292608" indent="-292608">
              <a:spcAft>
                <a:spcPts val="1100"/>
              </a:spcAft>
              <a:buFont typeface="Arial"/>
              <a:buChar char="•"/>
            </a:pPr>
            <a:r>
              <a:rPr sz="2200" b="0">
                <a:solidFill>
                  <a:srgbClr val="000000"/>
                </a:solidFill>
                <a:latin typeface="Nanum Gothic"/>
              </a:rPr>
              <a:t>Most calls are weak synergy (about 43 of 49)</a:t>
            </a:r>
          </a:p>
        </p:txBody>
      </p:sp>
      <p:sp>
        <p:nvSpPr>
          <p:cNvPr id="14" name="TextBox 13"/>
          <p:cNvSpPr txBox="1"/>
          <p:nvPr/>
        </p:nvSpPr>
        <p:spPr>
          <a:xfrm>
            <a:off x="7955279" y="8595360"/>
            <a:ext cx="9326880" cy="365760"/>
          </a:xfrm>
          <a:prstGeom prst="rect">
            <a:avLst/>
          </a:prstGeom>
          <a:noFill/>
        </p:spPr>
        <p:txBody>
          <a:bodyPr wrap="square" lIns="0" rIns="0" tIns="0" bIns="0">
            <a:spAutoFit/>
          </a:bodyPr>
          <a:lstStyle/>
          <a:p>
            <a:r>
              <a:rPr sz="1400" b="0">
                <a:solidFill>
                  <a:srgbClr val="6F6F6F"/>
                </a:solidFill>
                <a:latin typeface="Nanum Gothic"/>
              </a:rPr>
              <a:t>Source: Fig. 4A and 4C, Benedicto et al. 2025 (CC BY-NC-ND 4.0)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Cross-check · Fig. 5</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07</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Cross-check</a:t>
            </a:r>
          </a:p>
        </p:txBody>
      </p:sp>
      <p:pic>
        <p:nvPicPr>
          <p:cNvPr id="10" name="Picture 9" descr="fig5.png"/>
          <p:cNvPicPr>
            <a:picLocks noChangeAspect="1"/>
          </p:cNvPicPr>
          <p:nvPr/>
        </p:nvPicPr>
        <p:blipFill>
          <a:blip r:embed="rId4"/>
          <a:stretch>
            <a:fillRect/>
          </a:stretch>
        </p:blipFill>
        <p:spPr>
          <a:xfrm>
            <a:off x="1024128" y="2834640"/>
            <a:ext cx="10972800" cy="4831209"/>
          </a:xfrm>
          <a:prstGeom prst="rect">
            <a:avLst/>
          </a:prstGeom>
        </p:spPr>
      </p:pic>
      <p:sp>
        <p:nvSpPr>
          <p:cNvPr id="11" name="TextBox 10"/>
          <p:cNvSpPr txBox="1"/>
          <p:nvPr/>
        </p:nvSpPr>
        <p:spPr>
          <a:xfrm>
            <a:off x="1024128" y="7818120"/>
            <a:ext cx="10972800" cy="365760"/>
          </a:xfrm>
          <a:prstGeom prst="rect">
            <a:avLst/>
          </a:prstGeom>
          <a:noFill/>
        </p:spPr>
        <p:txBody>
          <a:bodyPr wrap="square" lIns="0" rIns="0" tIns="0" bIns="0">
            <a:spAutoFit/>
          </a:bodyPr>
          <a:lstStyle/>
          <a:p>
            <a:r>
              <a:rPr sz="1400" b="0">
                <a:solidFill>
                  <a:srgbClr val="6F6F6F"/>
                </a:solidFill>
                <a:latin typeface="Nanum Gothic"/>
              </a:rPr>
              <a:t>Source: Fig. 5, Benedicto et al. 2025 (CC BY-NC-ND 4.0). A overlap · B score agreement · C TIDE-essential tasks</a:t>
            </a:r>
          </a:p>
        </p:txBody>
      </p:sp>
      <p:sp>
        <p:nvSpPr>
          <p:cNvPr id="12" name="TextBox 11"/>
          <p:cNvSpPr txBox="1"/>
          <p:nvPr/>
        </p:nvSpPr>
        <p:spPr>
          <a:xfrm>
            <a:off x="12527280" y="2834640"/>
            <a:ext cx="4754880" cy="858520"/>
          </a:xfrm>
          <a:prstGeom prst="rect">
            <a:avLst/>
          </a:prstGeom>
          <a:noFill/>
        </p:spPr>
        <p:txBody>
          <a:bodyPr wrap="square" lIns="0" rIns="0" tIns="0" bIns="0">
            <a:spAutoFit/>
          </a:bodyPr>
          <a:lstStyle/>
          <a:p>
            <a:r>
              <a:rPr sz="2600" b="1">
                <a:solidFill>
                  <a:srgbClr val="000000"/>
                </a:solidFill>
                <a:latin typeface="Nanum Gothic Bold"/>
              </a:rPr>
              <a:t>A second method: TIDE-essential</a:t>
            </a:r>
          </a:p>
        </p:txBody>
      </p:sp>
      <p:cxnSp>
        <p:nvCxnSpPr>
          <p:cNvPr id="13" name="Connector 12"/>
          <p:cNvCxnSpPr/>
          <p:nvPr/>
        </p:nvCxnSpPr>
        <p:spPr>
          <a:xfrm>
            <a:off x="12527280" y="3830320"/>
            <a:ext cx="475488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527280" y="4058920"/>
            <a:ext cx="4754880" cy="4114800"/>
          </a:xfrm>
          <a:prstGeom prst="rect">
            <a:avLst/>
          </a:prstGeom>
          <a:noFill/>
        </p:spPr>
        <p:txBody>
          <a:bodyPr wrap="square" lIns="0" rIns="0" tIns="0" bIns="0">
            <a:spAutoFit/>
          </a:bodyPr>
          <a:lstStyle/>
          <a:p>
            <a:pPr marL="292608" indent="-292608">
              <a:spcAft>
                <a:spcPts val="1100"/>
              </a:spcAft>
              <a:buFont typeface="Arial"/>
              <a:buChar char="•"/>
            </a:pPr>
            <a:r>
              <a:rPr sz="2100" b="0">
                <a:solidFill>
                  <a:srgbClr val="000000"/>
                </a:solidFill>
                <a:latin typeface="Nanum Gothic"/>
              </a:rPr>
              <a:t>245 vs 69 significant task–condition pairs (TIDE vs TIDE-essential)</a:t>
            </a:r>
          </a:p>
          <a:p>
            <a:pPr marL="292608" indent="-292608">
              <a:spcAft>
                <a:spcPts val="1100"/>
              </a:spcAft>
              <a:buFont typeface="Arial"/>
              <a:buChar char="•"/>
            </a:pPr>
            <a:r>
              <a:rPr sz="2100" b="0">
                <a:solidFill>
                  <a:srgbClr val="000000"/>
                </a:solidFill>
                <a:latin typeface="Nanum Gothic"/>
              </a:rPr>
              <a:t>40 shared; Spearman ρ = 0.93 on these shared pairs</a:t>
            </a:r>
          </a:p>
          <a:p>
            <a:pPr marL="292608" indent="-292608">
              <a:spcAft>
                <a:spcPts val="1100"/>
              </a:spcAft>
              <a:buFont typeface="Arial"/>
              <a:buChar char="•"/>
            </a:pPr>
            <a:r>
              <a:rPr sz="2100" b="0">
                <a:solidFill>
                  <a:srgbClr val="000000"/>
                </a:solidFill>
                <a:latin typeface="Nanum Gothic"/>
              </a:rPr>
              <a:t>New in TIDE-essential: β-alanine synthesis, down in both combinations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My re-analysis</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08</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My re-analysis</a:t>
            </a:r>
          </a:p>
        </p:txBody>
      </p:sp>
      <p:pic>
        <p:nvPicPr>
          <p:cNvPr id="10" name="Picture 9" descr="repro_scatter_w.png"/>
          <p:cNvPicPr>
            <a:picLocks noChangeAspect="1"/>
          </p:cNvPicPr>
          <p:nvPr/>
        </p:nvPicPr>
        <p:blipFill>
          <a:blip r:embed="rId4"/>
          <a:stretch>
            <a:fillRect/>
          </a:stretch>
        </p:blipFill>
        <p:spPr>
          <a:xfrm>
            <a:off x="1024128" y="2834640"/>
            <a:ext cx="4934373" cy="4297680"/>
          </a:xfrm>
          <a:prstGeom prst="rect">
            <a:avLst/>
          </a:prstGeom>
        </p:spPr>
      </p:pic>
      <p:pic>
        <p:nvPicPr>
          <p:cNvPr id="11" name="Picture 10" descr="repro_counts_w.png"/>
          <p:cNvPicPr>
            <a:picLocks noChangeAspect="1"/>
          </p:cNvPicPr>
          <p:nvPr/>
        </p:nvPicPr>
        <p:blipFill>
          <a:blip r:embed="rId5"/>
          <a:stretch>
            <a:fillRect/>
          </a:stretch>
        </p:blipFill>
        <p:spPr>
          <a:xfrm>
            <a:off x="6172200" y="2834640"/>
            <a:ext cx="5889413" cy="4297680"/>
          </a:xfrm>
          <a:prstGeom prst="rect">
            <a:avLst/>
          </a:prstGeom>
        </p:spPr>
      </p:pic>
      <p:sp>
        <p:nvSpPr>
          <p:cNvPr id="12" name="TextBox 11"/>
          <p:cNvSpPr txBox="1"/>
          <p:nvPr/>
        </p:nvSpPr>
        <p:spPr>
          <a:xfrm>
            <a:off x="1024128" y="7269480"/>
            <a:ext cx="4846320" cy="365760"/>
          </a:xfrm>
          <a:prstGeom prst="rect">
            <a:avLst/>
          </a:prstGeom>
          <a:noFill/>
        </p:spPr>
        <p:txBody>
          <a:bodyPr wrap="square" lIns="0" rIns="0" tIns="0" bIns="0">
            <a:spAutoFit/>
          </a:bodyPr>
          <a:lstStyle/>
          <a:p>
            <a:r>
              <a:rPr sz="1500" b="0">
                <a:solidFill>
                  <a:srgbClr val="6F6F6F"/>
                </a:solidFill>
                <a:latin typeface="Nanum Gothic"/>
              </a:rPr>
              <a:t>Scores: six tasks × five conditions</a:t>
            </a:r>
          </a:p>
        </p:txBody>
      </p:sp>
      <p:sp>
        <p:nvSpPr>
          <p:cNvPr id="13" name="TextBox 12"/>
          <p:cNvSpPr txBox="1"/>
          <p:nvPr/>
        </p:nvSpPr>
        <p:spPr>
          <a:xfrm>
            <a:off x="6172200" y="7269480"/>
            <a:ext cx="5852160" cy="365760"/>
          </a:xfrm>
          <a:prstGeom prst="rect">
            <a:avLst/>
          </a:prstGeom>
          <a:noFill/>
        </p:spPr>
        <p:txBody>
          <a:bodyPr wrap="square" lIns="0" rIns="0" tIns="0" bIns="0">
            <a:spAutoFit/>
          </a:bodyPr>
          <a:lstStyle/>
          <a:p>
            <a:r>
              <a:rPr sz="1500" b="0">
                <a:solidFill>
                  <a:srgbClr val="6F6F6F"/>
                </a:solidFill>
                <a:latin typeface="Nanum Gothic"/>
              </a:rPr>
              <a:t>Counts depend on the permutation null</a:t>
            </a:r>
          </a:p>
        </p:txBody>
      </p:sp>
      <p:sp>
        <p:nvSpPr>
          <p:cNvPr id="14" name="TextBox 13"/>
          <p:cNvSpPr txBox="1"/>
          <p:nvPr/>
        </p:nvSpPr>
        <p:spPr>
          <a:xfrm>
            <a:off x="1024128" y="8092440"/>
            <a:ext cx="10972800" cy="365760"/>
          </a:xfrm>
          <a:prstGeom prst="rect">
            <a:avLst/>
          </a:prstGeom>
          <a:noFill/>
        </p:spPr>
        <p:txBody>
          <a:bodyPr wrap="square" lIns="0" rIns="0" tIns="0" bIns="0">
            <a:spAutoFit/>
          </a:bodyPr>
          <a:lstStyle/>
          <a:p>
            <a:r>
              <a:rPr sz="1400" b="0">
                <a:solidFill>
                  <a:srgbClr val="6F6F6F"/>
                </a:solidFill>
                <a:latin typeface="Nanum Gothic"/>
              </a:rPr>
              <a:t>Data: GEO GSE285616; code: MTEApy; pydeseq2 and 1,000 permutations (paper: R DESeq2, 10,000)</a:t>
            </a:r>
          </a:p>
        </p:txBody>
      </p:sp>
      <p:sp>
        <p:nvSpPr>
          <p:cNvPr id="15" name="TextBox 14"/>
          <p:cNvSpPr txBox="1"/>
          <p:nvPr/>
        </p:nvSpPr>
        <p:spPr>
          <a:xfrm>
            <a:off x="12527280" y="2834640"/>
            <a:ext cx="4754880" cy="1287780"/>
          </a:xfrm>
          <a:prstGeom prst="rect">
            <a:avLst/>
          </a:prstGeom>
          <a:noFill/>
        </p:spPr>
        <p:txBody>
          <a:bodyPr wrap="square" lIns="0" rIns="0" tIns="0" bIns="0">
            <a:spAutoFit/>
          </a:bodyPr>
          <a:lstStyle/>
          <a:p>
            <a:r>
              <a:rPr sz="2600" b="1">
                <a:solidFill>
                  <a:srgbClr val="000000"/>
                </a:solidFill>
                <a:latin typeface="Nanum Gothic Bold"/>
              </a:rPr>
              <a:t>Scores reproduce; counts depend on method choices</a:t>
            </a:r>
          </a:p>
        </p:txBody>
      </p:sp>
      <p:cxnSp>
        <p:nvCxnSpPr>
          <p:cNvPr id="16" name="Connector 15"/>
          <p:cNvCxnSpPr/>
          <p:nvPr/>
        </p:nvCxnSpPr>
        <p:spPr>
          <a:xfrm>
            <a:off x="12527280" y="4259580"/>
            <a:ext cx="475488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527280" y="4488180"/>
            <a:ext cx="4754880" cy="4114800"/>
          </a:xfrm>
          <a:prstGeom prst="rect">
            <a:avLst/>
          </a:prstGeom>
          <a:noFill/>
        </p:spPr>
        <p:txBody>
          <a:bodyPr wrap="square" lIns="0" rIns="0" tIns="0" bIns="0">
            <a:spAutoFit/>
          </a:bodyPr>
          <a:lstStyle/>
          <a:p>
            <a:pPr marL="292608" indent="-292608">
              <a:spcAft>
                <a:spcPts val="1100"/>
              </a:spcAft>
              <a:buFont typeface="Arial"/>
              <a:buChar char="•"/>
            </a:pPr>
            <a:r>
              <a:rPr sz="2100" b="0">
                <a:solidFill>
                  <a:srgbClr val="000000"/>
                </a:solidFill>
                <a:latin typeface="Nanum Gothic"/>
              </a:rPr>
              <a:t>DEG counts within about 10% of Fig. 1A</a:t>
            </a:r>
          </a:p>
          <a:p>
            <a:pPr marL="292608" indent="-292608">
              <a:spcAft>
                <a:spcPts val="1100"/>
              </a:spcAft>
              <a:buFont typeface="Arial"/>
              <a:buChar char="•"/>
            </a:pPr>
            <a:r>
              <a:rPr sz="2100" b="0">
                <a:solidFill>
                  <a:srgbClr val="000000"/>
                </a:solidFill>
                <a:latin typeface="Nanum Gothic"/>
              </a:rPr>
              <a:t>Task scores agree: r = 0.994 (30 values)</a:t>
            </a:r>
          </a:p>
          <a:p>
            <a:pPr marL="292608" indent="-292608">
              <a:spcAft>
                <a:spcPts val="1100"/>
              </a:spcAft>
              <a:buFont typeface="Arial"/>
              <a:buChar char="•"/>
            </a:pPr>
            <a:r>
              <a:rPr sz="2100" b="0">
                <a:solidFill>
                  <a:srgbClr val="000000"/>
                </a:solidFill>
                <a:latin typeface="Nanum Gothic"/>
              </a:rPr>
              <a:t>TIDE vs TIDE-essential: ρ 0.91 on shared pairs, 0.61 on all pairs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3847256"/>
          </a:xfrm>
          <a:prstGeom prst="rect">
            <a:avLst/>
          </a:prstGeom>
          <a:solidFill>
            <a:srgbClr val="F1F1F1"/>
          </a:solidFill>
        </p:spPr>
      </p:sp>
      <p:graphicFrame>
        <p:nvGraphicFramePr>
          <p:cNvPr name="Table 3" id="3"/>
          <p:cNvGraphicFramePr>
            <a:graphicFrameLocks noGrp="true"/>
          </p:cNvGraphicFramePr>
          <p:nvPr/>
        </p:nvGraphicFramePr>
        <p:xfrm>
          <a:off x="1317597" y="4939827"/>
          <a:ext cx="15633756" cy="4318473"/>
        </p:xfrm>
        <a:graphic>
          <a:graphicData uri="http://schemas.openxmlformats.org/drawingml/2006/table">
            <a:tbl>
              <a:tblPr/>
              <a:tblGrid>
                <a:gridCol w="5211252"/>
                <a:gridCol w="5211252"/>
                <a:gridCol w="5211252"/>
              </a:tblGrid>
              <a:tr h="1103465">
                <a:tc>
                  <a:txBody>
                    <a:bodyPr anchor="t" rtlCol="false"/>
                    <a:lstStyle/>
                    <a:p>
                      <a:pPr algn="ctr">
                        <a:lnSpc>
                          <a:spcPts val="3919"/>
                        </a:lnSpc>
                        <a:defRPr/>
                      </a:pPr>
                      <a:r>
                        <a:rPr lang="en-US" sz="2600" b="true">
                          <a:solidFill>
                            <a:srgbClr val="FFFFFF"/>
                          </a:solidFill>
                          <a:latin typeface="Nanum Gothic Bold"/>
                          <a:ea typeface="Nanum Gothic Bold"/>
                          <a:cs typeface="Nanum Gothic Bold"/>
                          <a:sym typeface="Nanum Gothic Bold"/>
                        </a:rPr>
                        <a:t>Robust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600" b="true">
                          <a:solidFill>
                            <a:srgbClr val="FFFFFF"/>
                          </a:solidFill>
                          <a:latin typeface="Nanum Gothic Bold"/>
                          <a:ea typeface="Nanum Gothic Bold"/>
                          <a:cs typeface="Nanum Gothic Bold"/>
                          <a:sym typeface="Nanum Gothic Bold"/>
                        </a:rPr>
                        <a:t>Sensitive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600" b="true">
                          <a:solidFill>
                            <a:srgbClr val="FFFFFF"/>
                          </a:solidFill>
                          <a:latin typeface="Nanum Gothic Bold"/>
                          <a:ea typeface="Nanum Gothic Bold"/>
                          <a:cs typeface="Nanum Gothic Bold"/>
                          <a:sym typeface="Nanum Gothic Bold"/>
                        </a:rPr>
                        <a:t>Not tested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r>
              <a:tr h="3215007">
                <a:tc>
                  <a:txBody>
                    <a:bodyPr anchor="t" rtlCol="false"/>
                    <a:lstStyle/>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Direction: tasks are weakened, most under PI3K inhibition</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Scores reproduce from public data</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Asp → Asn (ASNS) is the clearest signal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Task counts depend on the permutation null</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Weak synergy: margin over the best single drug is often below 0.1 log2FC</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Strong synergy flips near p = 0.025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Multiple testing across 187 tasks</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Interaction term: combination vs single drugs</a:t>
                      </a:r>
                      <a:endParaRPr lang="en-US" sz="1100"/>
                    </a:p>
                    <a:p>
                      <a:pPr algn="l" marL="496571" indent="-248285" lvl="1">
                        <a:lnSpc>
                          <a:spcPts val="3220"/>
                        </a:lnSpc>
                        <a:buFont typeface="Arial"/>
                        <a:buChar char="•"/>
                        <a:defRPr/>
                      </a:pPr>
                      <a:r>
                        <a:rPr lang="en-US" sz="2000">
                          <a:solidFill>
                            <a:srgbClr val="000000"/>
                          </a:solidFill>
                          <a:latin typeface="Nanum Gothic"/>
                          <a:ea typeface="Nanum Gothic"/>
                          <a:cs typeface="Nanum Gothic"/>
                          <a:sym typeface="Nanum Gothic"/>
                        </a:rPr>
                        <a:t>Experimental validation; one cell line, one dose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3395257" y="1595665"/>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Assessment</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09</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Assessment</a:t>
            </a:r>
          </a:p>
        </p:txBody>
      </p:sp>
      <p:sp>
        <p:nvSpPr>
          <p:cNvPr id="10" name="TextBox 9"/>
          <p:cNvSpPr txBox="1"/>
          <p:nvPr/>
        </p:nvSpPr>
        <p:spPr>
          <a:xfrm>
            <a:off x="1316736" y="9464040"/>
            <a:ext cx="15636240" cy="457200"/>
          </a:xfrm>
          <a:prstGeom prst="rect">
            <a:avLst/>
          </a:prstGeom>
          <a:noFill/>
        </p:spPr>
        <p:txBody>
          <a:bodyPr wrap="square" lIns="0" rIns="0" tIns="0" bIns="0">
            <a:spAutoFit/>
          </a:bodyPr>
          <a:lstStyle/>
          <a:p>
            <a:r>
              <a:rPr sz="1400" b="0">
                <a:solidFill>
                  <a:srgbClr val="6F6F6F"/>
                </a:solidFill>
                <a:latin typeface="Nanum Gothic"/>
              </a:rPr>
              <a:t>Printed totals in Table 1 do not match their own columns (TAKi 25 vs 24 + 6; MEKi TIDE-essential 15 vs 9 + 7); corrected values are used.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602373"/>
            <a:ext cx="3575146" cy="655927"/>
            <a:chOff x="0" y="0"/>
            <a:chExt cx="4766862" cy="874569"/>
          </a:xfrm>
        </p:grpSpPr>
        <p:grpSp>
          <p:nvGrpSpPr>
            <p:cNvPr name="Group 3" id="3"/>
            <p:cNvGrpSpPr/>
            <p:nvPr/>
          </p:nvGrpSpPr>
          <p:grpSpPr>
            <a:xfrm rot="0">
              <a:off x="0" y="0"/>
              <a:ext cx="4766862" cy="874569"/>
              <a:chOff x="0" y="0"/>
              <a:chExt cx="5150908" cy="945029"/>
            </a:xfrm>
          </p:grpSpPr>
          <p:sp>
            <p:nvSpPr>
              <p:cNvPr name="Freeform 4" id="4"/>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5" id="5"/>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Relevance</a:t>
              </a:r>
            </a:p>
          </p:txBody>
        </p:sp>
      </p:grpSp>
      <p:grpSp>
        <p:nvGrpSpPr>
          <p:cNvPr name="Group 6" id="6"/>
          <p:cNvGrpSpPr/>
          <p:nvPr/>
        </p:nvGrpSpPr>
        <p:grpSpPr>
          <a:xfrm rot="0">
            <a:off x="9850166" y="1850753"/>
            <a:ext cx="1546686" cy="1546686"/>
            <a:chOff x="0" y="0"/>
            <a:chExt cx="2062248" cy="2062248"/>
          </a:xfrm>
        </p:grpSpPr>
        <p:grpSp>
          <p:nvGrpSpPr>
            <p:cNvPr name="Group 7" id="7"/>
            <p:cNvGrpSpPr/>
            <p:nvPr/>
          </p:nvGrpSpPr>
          <p:grpSpPr>
            <a:xfrm rot="0">
              <a:off x="0" y="0"/>
              <a:ext cx="2062248" cy="2062248"/>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F1F1"/>
              </a:solidFill>
            </p:spPr>
          </p:sp>
        </p:grpSp>
        <p:sp>
          <p:nvSpPr>
            <p:cNvPr name="Freeform 9" id="9"/>
            <p:cNvSpPr/>
            <p:nvPr/>
          </p:nvSpPr>
          <p:spPr>
            <a:xfrm flipH="false" flipV="false" rot="0">
              <a:off x="502450" y="367264"/>
              <a:ext cx="1057348" cy="1327720"/>
            </a:xfrm>
            <a:custGeom>
              <a:avLst/>
              <a:gdLst/>
              <a:ahLst/>
              <a:cxnLst/>
              <a:rect r="r" b="b" t="t" l="l"/>
              <a:pathLst>
                <a:path h="1327720" w="1057348">
                  <a:moveTo>
                    <a:pt x="0" y="0"/>
                  </a:moveTo>
                  <a:lnTo>
                    <a:pt x="1057348" y="0"/>
                  </a:lnTo>
                  <a:lnTo>
                    <a:pt x="1057348" y="1327720"/>
                  </a:lnTo>
                  <a:lnTo>
                    <a:pt x="0" y="13277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0" id="10"/>
          <p:cNvGrpSpPr/>
          <p:nvPr/>
        </p:nvGrpSpPr>
        <p:grpSpPr>
          <a:xfrm rot="0">
            <a:off x="9850166" y="6889561"/>
            <a:ext cx="1546686" cy="1546686"/>
            <a:chOff x="0" y="0"/>
            <a:chExt cx="2062248" cy="2062248"/>
          </a:xfrm>
        </p:grpSpPr>
        <p:grpSp>
          <p:nvGrpSpPr>
            <p:cNvPr name="Group 11" id="11"/>
            <p:cNvGrpSpPr/>
            <p:nvPr/>
          </p:nvGrpSpPr>
          <p:grpSpPr>
            <a:xfrm rot="0">
              <a:off x="0" y="0"/>
              <a:ext cx="2062248" cy="2062248"/>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F1F1"/>
              </a:solidFill>
            </p:spPr>
          </p:sp>
        </p:grpSp>
        <p:sp>
          <p:nvSpPr>
            <p:cNvPr name="Freeform 13" id="13"/>
            <p:cNvSpPr/>
            <p:nvPr/>
          </p:nvSpPr>
          <p:spPr>
            <a:xfrm flipH="false" flipV="false" rot="0">
              <a:off x="349711" y="526878"/>
              <a:ext cx="1362827" cy="1008492"/>
            </a:xfrm>
            <a:custGeom>
              <a:avLst/>
              <a:gdLst/>
              <a:ahLst/>
              <a:cxnLst/>
              <a:rect r="r" b="b" t="t" l="l"/>
              <a:pathLst>
                <a:path h="1008492" w="1362827">
                  <a:moveTo>
                    <a:pt x="0" y="0"/>
                  </a:moveTo>
                  <a:lnTo>
                    <a:pt x="1362826" y="0"/>
                  </a:lnTo>
                  <a:lnTo>
                    <a:pt x="1362826" y="1008492"/>
                  </a:lnTo>
                  <a:lnTo>
                    <a:pt x="0" y="10084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4" id="14"/>
          <p:cNvGrpSpPr/>
          <p:nvPr/>
        </p:nvGrpSpPr>
        <p:grpSpPr>
          <a:xfrm rot="0">
            <a:off x="1821393" y="1650215"/>
            <a:ext cx="6380431" cy="2821394"/>
            <a:chOff x="0" y="0"/>
            <a:chExt cx="8507241" cy="3761859"/>
          </a:xfrm>
        </p:grpSpPr>
        <p:sp>
          <p:nvSpPr>
            <p:cNvPr name="TextBox 15" id="15"/>
            <p:cNvSpPr txBox="true"/>
            <p:nvPr/>
          </p:nvSpPr>
          <p:spPr>
            <a:xfrm rot="0">
              <a:off x="0" y="942459"/>
              <a:ext cx="8507241" cy="2819400"/>
            </a:xfrm>
            <a:prstGeom prst="rect">
              <a:avLst/>
            </a:prstGeom>
          </p:spPr>
          <p:txBody>
            <a:bodyPr anchor="t" rtlCol="false" tIns="0" lIns="0" bIns="0" rIns="0">
              <a:spAutoFit/>
            </a:bodyPr>
            <a:lstStyle/>
            <a:p>
              <a:pPr algn="l" marL="0" indent="0" lvl="0">
                <a:lnSpc>
                  <a:spcPts val="8399"/>
                </a:lnSpc>
                <a:spcBef>
                  <a:spcPct val="0"/>
                </a:spcBef>
              </a:pPr>
              <a:r>
                <a:rPr lang="en-US" b="true" sz="5400">
                  <a:solidFill>
                    <a:srgbClr val="000000"/>
                  </a:solidFill>
                  <a:latin typeface="Nanum Gothic Bold"/>
                  <a:ea typeface="Nanum Gothic Bold"/>
                  <a:cs typeface="Nanum Gothic Bold"/>
                  <a:sym typeface="Nanum Gothic Bold"/>
                </a:rPr>
                <a:t>Cancer and</a:t>
              </a:r>
            </a:p>
            <a:p>
              <a:pPr algn="l" marL="0" indent="0" lvl="0">
                <a:lnSpc>
                  <a:spcPts val="8399"/>
                </a:lnSpc>
                <a:spcBef>
                  <a:spcPct val="0"/>
                </a:spcBef>
              </a:pPr>
              <a:r>
                <a:rPr lang="en-US" b="true" sz="5400">
                  <a:solidFill>
                    <a:srgbClr val="000000"/>
                  </a:solidFill>
                  <a:latin typeface="Nanum Gothic Bold"/>
                  <a:ea typeface="Nanum Gothic Bold"/>
                  <a:cs typeface="Nanum Gothic Bold"/>
                  <a:sym typeface="Nanum Gothic Bold"/>
                </a:rPr>
                <a:t>drug discovery</a:t>
              </a:r>
            </a:p>
          </p:txBody>
        </p:sp>
        <p:sp>
          <p:nvSpPr>
            <p:cNvPr name="TextBox 16" id="16"/>
            <p:cNvSpPr txBox="true"/>
            <p:nvPr/>
          </p:nvSpPr>
          <p:spPr>
            <a:xfrm rot="0">
              <a:off x="0" y="9525"/>
              <a:ext cx="865467" cy="490008"/>
            </a:xfrm>
            <a:prstGeom prst="rect">
              <a:avLst/>
            </a:prstGeom>
          </p:spPr>
          <p:txBody>
            <a:bodyPr anchor="t" rtlCol="false" tIns="0" lIns="0" bIns="0" rIns="0">
              <a:spAutoFit/>
            </a:bodyPr>
            <a:lstStyle/>
            <a:p>
              <a:pPr algn="l">
                <a:lnSpc>
                  <a:spcPts val="2749"/>
                </a:lnSpc>
              </a:pPr>
              <a:r>
                <a:rPr lang="en-US" sz="2499" b="true">
                  <a:solidFill>
                    <a:srgbClr val="FA643F"/>
                  </a:solidFill>
                  <a:latin typeface="Nanum Gothic Bold"/>
                  <a:ea typeface="Nanum Gothic Bold"/>
                  <a:cs typeface="Nanum Gothic Bold"/>
                  <a:sym typeface="Nanum Gothic Bold"/>
                </a:rPr>
                <a:t>10</a:t>
              </a:r>
            </a:p>
          </p:txBody>
        </p:sp>
      </p:grpSp>
      <p:grpSp>
        <p:nvGrpSpPr>
          <p:cNvPr name="Group 17" id="17"/>
          <p:cNvGrpSpPr/>
          <p:nvPr/>
        </p:nvGrpSpPr>
        <p:grpSpPr>
          <a:xfrm rot="0">
            <a:off x="9850166" y="4370157"/>
            <a:ext cx="1546686" cy="1546686"/>
            <a:chOff x="0" y="0"/>
            <a:chExt cx="2062248" cy="2062248"/>
          </a:xfrm>
        </p:grpSpPr>
        <p:grpSp>
          <p:nvGrpSpPr>
            <p:cNvPr name="Group 18" id="18"/>
            <p:cNvGrpSpPr/>
            <p:nvPr/>
          </p:nvGrpSpPr>
          <p:grpSpPr>
            <a:xfrm rot="0">
              <a:off x="0" y="0"/>
              <a:ext cx="2062248" cy="2062248"/>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F1F1"/>
              </a:solidFill>
            </p:spPr>
          </p:sp>
        </p:grpSp>
        <p:sp>
          <p:nvSpPr>
            <p:cNvPr name="Freeform 20" id="20"/>
            <p:cNvSpPr/>
            <p:nvPr/>
          </p:nvSpPr>
          <p:spPr>
            <a:xfrm flipH="false" flipV="false" rot="0">
              <a:off x="437523" y="439682"/>
              <a:ext cx="1187201" cy="1182884"/>
            </a:xfrm>
            <a:custGeom>
              <a:avLst/>
              <a:gdLst/>
              <a:ahLst/>
              <a:cxnLst/>
              <a:rect r="r" b="b" t="t" l="l"/>
              <a:pathLst>
                <a:path h="1182884" w="1187201">
                  <a:moveTo>
                    <a:pt x="0" y="0"/>
                  </a:moveTo>
                  <a:lnTo>
                    <a:pt x="1187201" y="0"/>
                  </a:lnTo>
                  <a:lnTo>
                    <a:pt x="1187201" y="1182884"/>
                  </a:lnTo>
                  <a:lnTo>
                    <a:pt x="0" y="11828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TextBox 21" id="21"/>
          <p:cNvSpPr txBox="true"/>
          <p:nvPr/>
        </p:nvSpPr>
        <p:spPr>
          <a:xfrm rot="0">
            <a:off x="12091294" y="2223411"/>
            <a:ext cx="5212080" cy="763270"/>
          </a:xfrm>
          <a:prstGeom prst="rect">
            <a:avLst/>
          </a:prstGeom>
        </p:spPr>
        <p:txBody>
          <a:bodyPr anchor="t" rtlCol="false" tIns="0" lIns="0" bIns="0" rIns="0">
            <a:spAutoFit/>
          </a:bodyPr>
          <a:lstStyle/>
          <a:p>
            <a:pPr algn="l">
              <a:lnSpc>
                <a:spcPts val="3079"/>
              </a:lnSpc>
            </a:pPr>
            <a:r>
              <a:rPr lang="en-US" sz="2000">
                <a:solidFill>
                  <a:srgbClr val="000000"/>
                </a:solidFill>
                <a:latin typeface="Nanum Gothic"/>
                <a:ea typeface="Nanum Gothic"/>
                <a:cs typeface="Nanum Gothic"/>
                <a:sym typeface="Nanum Gothic"/>
              </a:rPr>
              <a:t>Combination therapy: a metabolic readout for why PI3K + MEK co-inhibition limits growth more than PI3K + TAK1</a:t>
            </a:r>
          </a:p>
        </p:txBody>
      </p:sp>
      <p:sp>
        <p:nvSpPr>
          <p:cNvPr name="TextBox 22" id="22"/>
          <p:cNvSpPr txBox="true"/>
          <p:nvPr/>
        </p:nvSpPr>
        <p:spPr>
          <a:xfrm rot="0">
            <a:off x="12091294" y="4742815"/>
            <a:ext cx="5212080" cy="763270"/>
          </a:xfrm>
          <a:prstGeom prst="rect">
            <a:avLst/>
          </a:prstGeom>
        </p:spPr>
        <p:txBody>
          <a:bodyPr anchor="t" rtlCol="false" tIns="0" lIns="0" bIns="0" rIns="0">
            <a:spAutoFit/>
          </a:bodyPr>
          <a:lstStyle/>
          <a:p>
            <a:pPr algn="l" marL="0" indent="0" lvl="1">
              <a:lnSpc>
                <a:spcPts val="3079"/>
              </a:lnSpc>
              <a:spcBef>
                <a:spcPct val="0"/>
              </a:spcBef>
            </a:pPr>
            <a:r>
              <a:rPr lang="en-US" sz="2000" u="none">
                <a:solidFill>
                  <a:srgbClr val="000000"/>
                </a:solidFill>
                <a:latin typeface="Nanum Gothic"/>
                <a:ea typeface="Nanum Gothic"/>
                <a:cs typeface="Nanum Gothic"/>
                <a:sym typeface="Nanum Gothic"/>
              </a:rPr>
              <a:t>Candidate vulnerabilities: ODC1 (polyamines), ASNS (asparagine), thioredoxin reductase; hypotheses only</a:t>
            </a:r>
          </a:p>
        </p:txBody>
      </p:sp>
      <p:sp>
        <p:nvSpPr>
          <p:cNvPr name="TextBox 23" id="23"/>
          <p:cNvSpPr txBox="true"/>
          <p:nvPr/>
        </p:nvSpPr>
        <p:spPr>
          <a:xfrm rot="0">
            <a:off x="12091294" y="7262219"/>
            <a:ext cx="5212080" cy="763270"/>
          </a:xfrm>
          <a:prstGeom prst="rect">
            <a:avLst/>
          </a:prstGeom>
        </p:spPr>
        <p:txBody>
          <a:bodyPr anchor="t" rtlCol="false" tIns="0" lIns="0" bIns="0" rIns="0">
            <a:spAutoFit/>
          </a:bodyPr>
          <a:lstStyle/>
          <a:p>
            <a:pPr algn="l" marL="0" indent="0" lvl="1">
              <a:lnSpc>
                <a:spcPts val="3079"/>
              </a:lnSpc>
              <a:spcBef>
                <a:spcPct val="0"/>
              </a:spcBef>
            </a:pPr>
            <a:r>
              <a:rPr lang="en-US" sz="2000" u="none">
                <a:solidFill>
                  <a:srgbClr val="000000"/>
                </a:solidFill>
                <a:latin typeface="Nanum Gothic"/>
                <a:ea typeface="Nanum Gothic"/>
                <a:cs typeface="Nanum Gothic"/>
                <a:sym typeface="Nanum Gothic"/>
              </a:rPr>
              <a:t>Scalable readout: RNA-seq, a public model and open code can be applied to other lines, drugs and doses</a:t>
            </a:r>
          </a:p>
        </p:txBody>
      </p:sp>
      <p:cxnSp>
        <p:nvCxnSpPr>
          <p:cNvPr id="24" name="Connector 23"/>
          <p:cNvCxnSpPr/>
          <p:nvPr/>
        </p:nvCxnSpPr>
        <p:spPr>
          <a:xfrm>
            <a:off x="1819656" y="5669280"/>
            <a:ext cx="6318504"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819656" y="5897880"/>
            <a:ext cx="6400800" cy="1463040"/>
          </a:xfrm>
          <a:prstGeom prst="rect">
            <a:avLst/>
          </a:prstGeom>
          <a:noFill/>
        </p:spPr>
        <p:txBody>
          <a:bodyPr wrap="square" lIns="0" rIns="0" tIns="0" bIns="0">
            <a:spAutoFit/>
          </a:bodyPr>
          <a:lstStyle/>
          <a:p>
            <a:r>
              <a:rPr sz="2200" b="0">
                <a:solidFill>
                  <a:srgbClr val="000000"/>
                </a:solidFill>
                <a:latin typeface="Nanum Gothic"/>
              </a:rPr>
              <a:t>Next step I would take: multiple-testing control, an interaction model, dose–response data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258300"/>
            <a:ext cx="18288000" cy="1028700"/>
          </a:xfrm>
          <a:prstGeom prst="rect">
            <a:avLst/>
          </a:prstGeom>
          <a:solidFill>
            <a:srgbClr val="F1F1F1"/>
          </a:solidFill>
        </p:spPr>
      </p:sp>
      <p:grpSp>
        <p:nvGrpSpPr>
          <p:cNvPr name="Group 3" id="3"/>
          <p:cNvGrpSpPr/>
          <p:nvPr/>
        </p:nvGrpSpPr>
        <p:grpSpPr>
          <a:xfrm rot="0">
            <a:off x="7356427" y="8930337"/>
            <a:ext cx="3575146" cy="655927"/>
            <a:chOff x="0" y="0"/>
            <a:chExt cx="4766862" cy="874569"/>
          </a:xfrm>
        </p:grpSpPr>
        <p:grpSp>
          <p:nvGrpSpPr>
            <p:cNvPr name="Group 4" id="4"/>
            <p:cNvGrpSpPr/>
            <p:nvPr/>
          </p:nvGrpSpPr>
          <p:grpSpPr>
            <a:xfrm rot="0">
              <a:off x="0" y="0"/>
              <a:ext cx="4766862" cy="874569"/>
              <a:chOff x="0" y="0"/>
              <a:chExt cx="5150908" cy="945029"/>
            </a:xfrm>
          </p:grpSpPr>
          <p:sp>
            <p:nvSpPr>
              <p:cNvPr name="Freeform 5" id="5"/>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6" id="6"/>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Take-home</a:t>
              </a:r>
            </a:p>
          </p:txBody>
        </p:sp>
      </p:grpSp>
      <p:grpSp>
        <p:nvGrpSpPr>
          <p:cNvPr name="Group 7" id="7"/>
          <p:cNvGrpSpPr/>
          <p:nvPr/>
        </p:nvGrpSpPr>
        <p:grpSpPr>
          <a:xfrm rot="0">
            <a:off x="2906841" y="2176321"/>
            <a:ext cx="12474317" cy="5034894"/>
            <a:chOff x="0" y="0"/>
            <a:chExt cx="16632423" cy="6713192"/>
          </a:xfrm>
        </p:grpSpPr>
        <p:sp>
          <p:nvSpPr>
            <p:cNvPr name="TextBox 9" id="9"/>
            <p:cNvSpPr txBox="true"/>
            <p:nvPr/>
          </p:nvSpPr>
          <p:spPr>
            <a:xfrm rot="0">
              <a:off x="7767066" y="9525"/>
              <a:ext cx="1098291" cy="490008"/>
            </a:xfrm>
            <a:prstGeom prst="rect">
              <a:avLst/>
            </a:prstGeom>
          </p:spPr>
          <p:txBody>
            <a:bodyPr anchor="t" rtlCol="false" tIns="0" lIns="0" bIns="0" rIns="0">
              <a:spAutoFit/>
            </a:bodyPr>
            <a:lstStyle/>
            <a:p>
              <a:pPr algn="ctr">
                <a:lnSpc>
                  <a:spcPts val="2749"/>
                </a:lnSpc>
              </a:pPr>
              <a:r>
                <a:rPr lang="en-US" b="true" sz="2499">
                  <a:solidFill>
                    <a:srgbClr val="FA643F"/>
                  </a:solidFill>
                  <a:latin typeface="Nanum Gothic Bold"/>
                  <a:ea typeface="Nanum Gothic Bold"/>
                  <a:cs typeface="Nanum Gothic Bold"/>
                  <a:sym typeface="Nanum Gothic Bold"/>
                </a:rPr>
                <a:t>11</a:t>
              </a:r>
            </a:p>
          </p:txBody>
        </p:sp>
        <p:sp>
          <p:nvSpPr>
            <p:cNvPr name="TextBox 10" id="10"/>
            <p:cNvSpPr txBox="true"/>
            <p:nvPr/>
          </p:nvSpPr>
          <p:spPr>
            <a:xfrm rot="0">
              <a:off x="5" y="6112482"/>
              <a:ext cx="16632413" cy="600710"/>
            </a:xfrm>
            <a:prstGeom prst="rect">
              <a:avLst/>
            </a:prstGeom>
          </p:spPr>
          <p:txBody>
            <a:bodyPr anchor="t" rtlCol="false" tIns="0" lIns="0" bIns="0" rIns="0">
              <a:spAutoFit/>
            </a:bodyPr>
            <a:lstStyle/>
            <a:p>
              <a:pPr algn="ctr">
                <a:lnSpc>
                  <a:spcPts val="3779"/>
                </a:lnSpc>
              </a:pPr>
              <a:r>
                <a:rPr lang="en-US" sz="2400">
                  <a:solidFill>
                    <a:srgbClr val="000000"/>
                  </a:solidFill>
                  <a:latin typeface="Nanum Gothic"/>
                  <a:ea typeface="Nanum Gothic"/>
                  <a:cs typeface="Nanum Gothic"/>
                  <a:sym typeface="Nanum Gothic"/>
                </a:rPr>
                <a:t>Scores reproduce from public data; counts and synergy labels depend on method choices.</a:t>
              </a:r>
            </a:p>
          </p:txBody>
        </p:sp>
        <p:sp>
          <p:nvSpPr>
            <p:cNvPr name="AutoShape 11" id="11"/>
            <p:cNvSpPr/>
            <p:nvPr/>
          </p:nvSpPr>
          <p:spPr>
            <a:xfrm rot="2624">
              <a:off x="7" y="5479749"/>
              <a:ext cx="16632408" cy="0"/>
            </a:xfrm>
            <a:prstGeom prst="line">
              <a:avLst/>
            </a:prstGeom>
            <a:ln cap="flat" w="25400">
              <a:solidFill>
                <a:srgbClr val="FA643F"/>
              </a:solidFill>
              <a:prstDash val="solid"/>
              <a:headEnd type="none" len="sm" w="sm"/>
              <a:tailEnd type="none" len="sm" w="sm"/>
            </a:ln>
          </p:spPr>
        </p:sp>
      </p:grpSp>
      <p:sp>
        <p:nvSpPr>
          <p:cNvPr id="12" name="TextBox 11"/>
          <p:cNvSpPr txBox="1"/>
          <p:nvPr/>
        </p:nvSpPr>
        <p:spPr>
          <a:xfrm>
            <a:off x="1645920" y="3063240"/>
            <a:ext cx="14996159" cy="2743200"/>
          </a:xfrm>
          <a:prstGeom prst="rect">
            <a:avLst/>
          </a:prstGeom>
          <a:noFill/>
        </p:spPr>
        <p:txBody>
          <a:bodyPr wrap="square" lIns="0" rIns="0" tIns="0" bIns="0">
            <a:spAutoFit/>
          </a:bodyPr>
          <a:lstStyle/>
          <a:p>
            <a:pPr algn="ctr">
              <a:spcAft>
                <a:spcPts val="1400"/>
              </a:spcAft>
            </a:pPr>
            <a:r>
              <a:rPr sz="3400" b="1">
                <a:solidFill>
                  <a:srgbClr val="000000"/>
                </a:solidFill>
                <a:latin typeface="Nanum Gothic Bold"/>
              </a:rPr>
              <a:t>PI3K inhibition weakens biosynthetic tasks.</a:t>
            </a:r>
          </a:p>
          <a:p>
            <a:pPr algn="ctr">
              <a:spcAft>
                <a:spcPts val="1400"/>
              </a:spcAft>
            </a:pPr>
            <a:r>
              <a:rPr sz="3400" b="1">
                <a:solidFill>
                  <a:srgbClr val="000000"/>
                </a:solidFill>
                <a:latin typeface="Nanum Gothic Bold"/>
              </a:rPr>
              <a:t>Combination-only changes are candidates, not proofs.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028700" y="1028700"/>
            <a:ext cx="16230600" cy="8229600"/>
          </a:xfrm>
          <a:prstGeom prst="rect">
            <a:avLst/>
          </a:prstGeom>
          <a:solidFill>
            <a:srgbClr val="F1F1F1"/>
          </a:solidFill>
        </p:spPr>
      </p:sp>
      <p:grpSp>
        <p:nvGrpSpPr>
          <p:cNvPr name="Group 3" id="3"/>
          <p:cNvGrpSpPr/>
          <p:nvPr/>
        </p:nvGrpSpPr>
        <p:grpSpPr>
          <a:xfrm rot="0">
            <a:off x="2906841" y="3311853"/>
            <a:ext cx="12474317" cy="3663294"/>
            <a:chOff x="0" y="0"/>
            <a:chExt cx="16632423" cy="4884392"/>
          </a:xfrm>
        </p:grpSpPr>
        <p:sp>
          <p:nvSpPr>
            <p:cNvPr name="TextBox 4" id="4"/>
            <p:cNvSpPr txBox="true"/>
            <p:nvPr/>
          </p:nvSpPr>
          <p:spPr>
            <a:xfrm rot="0">
              <a:off x="10" y="1138616"/>
              <a:ext cx="16632404" cy="184785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0000"/>
                  </a:solidFill>
                  <a:latin typeface="Nanum Gothic Bold"/>
                  <a:ea typeface="Nanum Gothic Bold"/>
                  <a:cs typeface="Nanum Gothic Bold"/>
                  <a:sym typeface="Nanum Gothic Bold"/>
                </a:rPr>
                <a:t>Thank you</a:t>
              </a:r>
            </a:p>
          </p:txBody>
        </p:sp>
        <p:sp>
          <p:nvSpPr>
            <p:cNvPr name="TextBox 5" id="5"/>
            <p:cNvSpPr txBox="true"/>
            <p:nvPr/>
          </p:nvSpPr>
          <p:spPr>
            <a:xfrm rot="0">
              <a:off x="7767066" y="9525"/>
              <a:ext cx="1098291" cy="490008"/>
            </a:xfrm>
            <a:prstGeom prst="rect">
              <a:avLst/>
            </a:prstGeom>
          </p:spPr>
          <p:txBody>
            <a:bodyPr anchor="t" rtlCol="false" tIns="0" lIns="0" bIns="0" rIns="0">
              <a:spAutoFit/>
            </a:bodyPr>
            <a:lstStyle/>
            <a:p>
              <a:pPr algn="ctr">
                <a:lnSpc>
                  <a:spcPts val="2749"/>
                </a:lnSpc>
              </a:pPr>
              <a:r>
                <a:rPr lang="en-US" b="true" sz="2499">
                  <a:solidFill>
                    <a:srgbClr val="FA643F"/>
                  </a:solidFill>
                  <a:latin typeface="Nanum Gothic Bold"/>
                  <a:ea typeface="Nanum Gothic Bold"/>
                  <a:cs typeface="Nanum Gothic Bold"/>
                  <a:sym typeface="Nanum Gothic Bold"/>
                </a:rPr>
                <a:t>12</a:t>
              </a:r>
            </a:p>
          </p:txBody>
        </p:sp>
        <p:sp>
          <p:nvSpPr>
            <p:cNvPr name="TextBox 6" id="6"/>
            <p:cNvSpPr txBox="true"/>
            <p:nvPr/>
          </p:nvSpPr>
          <p:spPr>
            <a:xfrm rot="0">
              <a:off x="5" y="4283682"/>
              <a:ext cx="16632413" cy="600710"/>
            </a:xfrm>
            <a:prstGeom prst="rect">
              <a:avLst/>
            </a:prstGeom>
          </p:spPr>
          <p:txBody>
            <a:bodyPr anchor="t" rtlCol="false" tIns="0" lIns="0" bIns="0" rIns="0">
              <a:spAutoFit/>
            </a:bodyPr>
            <a:lstStyle/>
            <a:p>
              <a:pPr algn="ctr">
                <a:lnSpc>
                  <a:spcPts val="3779"/>
                </a:lnSpc>
              </a:pPr>
              <a:r>
                <a:rPr lang="en-US" sz="2700">
                  <a:solidFill>
                    <a:srgbClr val="000000"/>
                  </a:solidFill>
                  <a:latin typeface="Nanum Gothic"/>
                  <a:ea typeface="Nanum Gothic"/>
                  <a:cs typeface="Nanum Gothic"/>
                  <a:sym typeface="Nanum Gothic"/>
                </a:rPr>
                <a:t>Questions?</a:t>
              </a:r>
            </a:p>
          </p:txBody>
        </p:sp>
        <p:sp>
          <p:nvSpPr>
            <p:cNvPr name="AutoShape 7" id="7"/>
            <p:cNvSpPr/>
            <p:nvPr/>
          </p:nvSpPr>
          <p:spPr>
            <a:xfrm rot="2624">
              <a:off x="7" y="3650949"/>
              <a:ext cx="16632408" cy="0"/>
            </a:xfrm>
            <a:prstGeom prst="line">
              <a:avLst/>
            </a:prstGeom>
            <a:ln cap="flat" w="25400">
              <a:solidFill>
                <a:srgbClr val="FA643F"/>
              </a:solidFill>
              <a:prstDash val="solid"/>
              <a:headEnd type="none" len="sm" w="sm"/>
              <a:tailEnd type="none" len="sm" w="sm"/>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Backup · Fig. 1</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13</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Backup</a:t>
            </a:r>
          </a:p>
        </p:txBody>
      </p:sp>
      <p:pic>
        <p:nvPicPr>
          <p:cNvPr id="10" name="Picture 9" descr="fig1.png"/>
          <p:cNvPicPr>
            <a:picLocks noChangeAspect="1"/>
          </p:cNvPicPr>
          <p:nvPr/>
        </p:nvPicPr>
        <p:blipFill>
          <a:blip r:embed="rId4"/>
          <a:stretch>
            <a:fillRect/>
          </a:stretch>
        </p:blipFill>
        <p:spPr>
          <a:xfrm>
            <a:off x="1024128" y="2834640"/>
            <a:ext cx="10972800" cy="5036370"/>
          </a:xfrm>
          <a:prstGeom prst="rect">
            <a:avLst/>
          </a:prstGeom>
        </p:spPr>
      </p:pic>
      <p:sp>
        <p:nvSpPr>
          <p:cNvPr id="11" name="TextBox 10"/>
          <p:cNvSpPr txBox="1"/>
          <p:nvPr/>
        </p:nvSpPr>
        <p:spPr>
          <a:xfrm>
            <a:off x="1024128" y="8001000"/>
            <a:ext cx="10972800" cy="365760"/>
          </a:xfrm>
          <a:prstGeom prst="rect">
            <a:avLst/>
          </a:prstGeom>
          <a:noFill/>
        </p:spPr>
        <p:txBody>
          <a:bodyPr wrap="square" lIns="0" rIns="0" tIns="0" bIns="0">
            <a:spAutoFit/>
          </a:bodyPr>
          <a:lstStyle/>
          <a:p>
            <a:r>
              <a:rPr sz="1400" b="0">
                <a:solidFill>
                  <a:srgbClr val="6F6F6F"/>
                </a:solidFill>
                <a:latin typeface="Nanum Gothic"/>
              </a:rPr>
              <a:t>Source: Fig. 1, Benedicto et al. 2025 (CC BY-NC-ND 4.0)</a:t>
            </a:r>
          </a:p>
        </p:txBody>
      </p:sp>
      <p:sp>
        <p:nvSpPr>
          <p:cNvPr id="12" name="TextBox 11"/>
          <p:cNvSpPr txBox="1"/>
          <p:nvPr/>
        </p:nvSpPr>
        <p:spPr>
          <a:xfrm>
            <a:off x="12527280" y="2834640"/>
            <a:ext cx="4754880" cy="858520"/>
          </a:xfrm>
          <a:prstGeom prst="rect">
            <a:avLst/>
          </a:prstGeom>
          <a:noFill/>
        </p:spPr>
        <p:txBody>
          <a:bodyPr wrap="square" lIns="0" rIns="0" tIns="0" bIns="0">
            <a:spAutoFit/>
          </a:bodyPr>
          <a:lstStyle/>
          <a:p>
            <a:r>
              <a:rPr sz="2600" b="1">
                <a:solidFill>
                  <a:srgbClr val="000000"/>
                </a:solidFill>
                <a:latin typeface="Nanum Gothic Bold"/>
              </a:rPr>
              <a:t>Gene-level response (Fig. 1)</a:t>
            </a:r>
          </a:p>
        </p:txBody>
      </p:sp>
      <p:cxnSp>
        <p:nvCxnSpPr>
          <p:cNvPr id="13" name="Connector 12"/>
          <p:cNvCxnSpPr/>
          <p:nvPr/>
        </p:nvCxnSpPr>
        <p:spPr>
          <a:xfrm>
            <a:off x="12527280" y="3830320"/>
            <a:ext cx="475488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527280" y="4058920"/>
            <a:ext cx="4754880" cy="4114800"/>
          </a:xfrm>
          <a:prstGeom prst="rect">
            <a:avLst/>
          </a:prstGeom>
          <a:noFill/>
        </p:spPr>
        <p:txBody>
          <a:bodyPr wrap="square" lIns="0" rIns="0" tIns="0" bIns="0">
            <a:spAutoFit/>
          </a:bodyPr>
          <a:lstStyle/>
          <a:p>
            <a:pPr marL="292608" indent="-292608">
              <a:spcAft>
                <a:spcPts val="1100"/>
              </a:spcAft>
              <a:buFont typeface="Arial"/>
              <a:buChar char="•"/>
            </a:pPr>
            <a:r>
              <a:rPr sz="2100" b="0">
                <a:solidFill>
                  <a:srgbClr val="000000"/>
                </a:solidFill>
                <a:latin typeface="Nanum Gothic"/>
              </a:rPr>
              <a:t>Up-regulated genes outnumber down-regulated in every condition</a:t>
            </a:r>
          </a:p>
          <a:p>
            <a:pPr marL="292608" indent="-292608">
              <a:spcAft>
                <a:spcPts val="1100"/>
              </a:spcAft>
              <a:buFont typeface="Arial"/>
              <a:buChar char="•"/>
            </a:pPr>
            <a:r>
              <a:rPr sz="2100" b="0">
                <a:solidFill>
                  <a:srgbClr val="000000"/>
                </a:solidFill>
                <a:latin typeface="Nanum Gothic"/>
              </a:rPr>
              <a:t>PI3Ki+MEKi has the most DEGs</a:t>
            </a:r>
          </a:p>
          <a:p>
            <a:pPr marL="292608" indent="-292608">
              <a:spcAft>
                <a:spcPts val="1100"/>
              </a:spcAft>
              <a:buFont typeface="Arial"/>
              <a:buChar char="•"/>
            </a:pPr>
            <a:r>
              <a:rPr sz="2100" b="0">
                <a:solidFill>
                  <a:srgbClr val="000000"/>
                </a:solidFill>
                <a:latin typeface="Nanum Gothic"/>
              </a:rPr>
              <a:t>Combination-only DEGs: about 15% (PI3Ki+TAKi), about 25% (PI3Ki+MEKi)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4" id="4"/>
          <p:cNvGrpSpPr/>
          <p:nvPr/>
        </p:nvGrpSpPr>
        <p:grpSpPr>
          <a:xfrm rot="0">
            <a:off x="13684154" y="8602373"/>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Backup · Fig. 2</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14</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7000" b="1">
                <a:solidFill>
                  <a:srgbClr val="000000"/>
                </a:solidFill>
                <a:latin typeface="Nanum Gothic Bold"/>
              </a:rPr>
              <a:t>Backup</a:t>
            </a:r>
          </a:p>
        </p:txBody>
      </p:sp>
      <p:pic>
        <p:nvPicPr>
          <p:cNvPr id="10" name="Picture 9" descr="fig2.png"/>
          <p:cNvPicPr>
            <a:picLocks noChangeAspect="1"/>
          </p:cNvPicPr>
          <p:nvPr/>
        </p:nvPicPr>
        <p:blipFill>
          <a:blip r:embed="rId4"/>
          <a:stretch>
            <a:fillRect/>
          </a:stretch>
        </p:blipFill>
        <p:spPr>
          <a:xfrm>
            <a:off x="1024128" y="2697480"/>
            <a:ext cx="5260294" cy="6400800"/>
          </a:xfrm>
          <a:prstGeom prst="rect">
            <a:avLst/>
          </a:prstGeom>
        </p:spPr>
      </p:pic>
      <p:sp>
        <p:nvSpPr>
          <p:cNvPr id="11" name="TextBox 10"/>
          <p:cNvSpPr txBox="1"/>
          <p:nvPr/>
        </p:nvSpPr>
        <p:spPr>
          <a:xfrm>
            <a:off x="1024128" y="9189720"/>
            <a:ext cx="7315200" cy="365760"/>
          </a:xfrm>
          <a:prstGeom prst="rect">
            <a:avLst/>
          </a:prstGeom>
          <a:noFill/>
        </p:spPr>
        <p:txBody>
          <a:bodyPr wrap="square" lIns="0" rIns="0" tIns="0" bIns="0">
            <a:spAutoFit/>
          </a:bodyPr>
          <a:lstStyle/>
          <a:p>
            <a:r>
              <a:rPr sz="1400" b="0">
                <a:solidFill>
                  <a:srgbClr val="6F6F6F"/>
                </a:solidFill>
                <a:latin typeface="Nanum Gothic"/>
              </a:rPr>
              <a:t>Source: Fig. 2, Benedicto et al. 2025 (CC BY-NC-ND 4.0)</a:t>
            </a:r>
          </a:p>
        </p:txBody>
      </p:sp>
      <p:sp>
        <p:nvSpPr>
          <p:cNvPr id="12" name="TextBox 11"/>
          <p:cNvSpPr txBox="1"/>
          <p:nvPr/>
        </p:nvSpPr>
        <p:spPr>
          <a:xfrm>
            <a:off x="7223760" y="2834640"/>
            <a:ext cx="10058400" cy="429260"/>
          </a:xfrm>
          <a:prstGeom prst="rect">
            <a:avLst/>
          </a:prstGeom>
          <a:noFill/>
        </p:spPr>
        <p:txBody>
          <a:bodyPr wrap="square" lIns="0" rIns="0" tIns="0" bIns="0">
            <a:spAutoFit/>
          </a:bodyPr>
          <a:lstStyle/>
          <a:p>
            <a:r>
              <a:rPr sz="2600" b="1">
                <a:solidFill>
                  <a:srgbClr val="000000"/>
                </a:solidFill>
                <a:latin typeface="Nanum Gothic Bold"/>
              </a:rPr>
              <a:t>Gene-set response (Fig. 2)</a:t>
            </a:r>
          </a:p>
        </p:txBody>
      </p:sp>
      <p:cxnSp>
        <p:nvCxnSpPr>
          <p:cNvPr id="13" name="Connector 12"/>
          <p:cNvCxnSpPr/>
          <p:nvPr/>
        </p:nvCxnSpPr>
        <p:spPr>
          <a:xfrm>
            <a:off x="7223760" y="3401060"/>
            <a:ext cx="10058400" cy="0"/>
          </a:xfrm>
          <a:prstGeom prst="line">
            <a:avLst/>
          </a:prstGeom>
          <a:ln w="19050">
            <a:solidFill>
              <a:srgbClr val="FA643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223760" y="3629660"/>
            <a:ext cx="10058400" cy="4114800"/>
          </a:xfrm>
          <a:prstGeom prst="rect">
            <a:avLst/>
          </a:prstGeom>
          <a:noFill/>
        </p:spPr>
        <p:txBody>
          <a:bodyPr wrap="square" lIns="0" rIns="0" tIns="0" bIns="0">
            <a:spAutoFit/>
          </a:bodyPr>
          <a:lstStyle/>
          <a:p>
            <a:pPr marL="292608" indent="-292608">
              <a:spcAft>
                <a:spcPts val="1100"/>
              </a:spcAft>
              <a:buFont typeface="Arial"/>
              <a:buChar char="•"/>
            </a:pPr>
            <a:r>
              <a:rPr sz="2100" b="0">
                <a:solidFill>
                  <a:srgbClr val="000000"/>
                </a:solidFill>
                <a:latin typeface="Nanum Gothic"/>
              </a:rPr>
              <a:t>About 54% of significant GO sets are down, 46% up; PI3Ki combinations lean down</a:t>
            </a:r>
          </a:p>
          <a:p>
            <a:pPr marL="292608" indent="-292608">
              <a:spcAft>
                <a:spcPts val="1100"/>
              </a:spcAft>
              <a:buFont typeface="Arial"/>
              <a:buChar char="•"/>
            </a:pPr>
            <a:r>
              <a:rPr sz="2100" b="0">
                <a:solidFill>
                  <a:srgbClr val="000000"/>
                </a:solidFill>
                <a:latin typeface="Nanum Gothic"/>
              </a:rPr>
              <a:t>Down in all conditions: rRNA processing, tRNA aminoacylation, mitochondrial translation</a:t>
            </a:r>
          </a:p>
          <a:p>
            <a:pPr marL="292608" indent="-292608">
              <a:spcAft>
                <a:spcPts val="1100"/>
              </a:spcAft>
              <a:buFont typeface="Arial"/>
              <a:buChar char="•"/>
            </a:pPr>
            <a:r>
              <a:rPr sz="2100" b="0">
                <a:solidFill>
                  <a:srgbClr val="000000"/>
                </a:solidFill>
                <a:latin typeface="Nanum Gothic"/>
              </a:rPr>
              <a:t>Up in all conditions: MHC antigen presentation</a:t>
            </a:r>
          </a:p>
          <a:p>
            <a:pPr marL="292608" indent="-292608">
              <a:spcAft>
                <a:spcPts val="1100"/>
              </a:spcAft>
              <a:buFont typeface="Arial"/>
              <a:buChar char="•"/>
            </a:pPr>
            <a:r>
              <a:rPr sz="2100" b="0">
                <a:solidFill>
                  <a:srgbClr val="000000"/>
                </a:solidFill>
                <a:latin typeface="Nanum Gothic"/>
              </a:rPr>
              <a:t>Labels stay broad: no pathway-level metabolic detail, hence the model-based step</a:t>
            </a:r>
          </a:p>
          <a:p>
            <a:pPr marL="292608" indent="-292608">
              <a:spcAft>
                <a:spcPts val="1100"/>
              </a:spcAft>
              <a:buFont typeface="Arial"/>
              <a:buChar char="•"/>
            </a:pPr>
            <a:r>
              <a:rPr sz="2100" b="0">
                <a:solidFill>
                  <a:srgbClr val="000000"/>
                </a:solidFill>
                <a:latin typeface="Nanum Gothic"/>
              </a:rPr>
              <a:t>My check: no single mitochondrial ribosomal gene reaches 2-fold, yet the set is strongly down (p about 1e-19)</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3847256"/>
          </a:xfrm>
          <a:prstGeom prst="rect">
            <a:avLst/>
          </a:prstGeom>
          <a:solidFill>
            <a:srgbClr val="F1F1F1"/>
          </a:solidFill>
        </p:spPr>
      </p:sp>
      <p:graphicFrame>
        <p:nvGraphicFramePr>
          <p:cNvPr name="Table 3" id="3"/>
          <p:cNvGraphicFramePr>
            <a:graphicFrameLocks noGrp="true"/>
          </p:cNvGraphicFramePr>
          <p:nvPr/>
        </p:nvGraphicFramePr>
        <p:xfrm>
          <a:off x="1317597" y="4939827"/>
          <a:ext cx="15633756" cy="4318473"/>
        </p:xfrm>
        <a:graphic>
          <a:graphicData uri="http://schemas.openxmlformats.org/drawingml/2006/table">
            <a:tbl>
              <a:tblPr/>
              <a:tblGrid>
                <a:gridCol w="4114800"/>
                <a:gridCol w="2303791"/>
                <a:gridCol w="2303791"/>
                <a:gridCol w="2303791"/>
                <a:gridCol w="2303791"/>
                <a:gridCol w="2303791"/>
              </a:tblGrid>
              <a:tr h="777240">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Significant tasks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TAKi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MEKi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PI3Ki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PI3Ki+MEKi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PI3Ki+TAKi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TIDE only</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24</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10</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70</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52</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49</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TIDE-essential only</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8</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9</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3</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4</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5</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Shared</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6</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7</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7</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14</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6</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Total TIDE</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30 *</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17</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77</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66</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55</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Total TIDE-essential</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14</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16 *</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10</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18</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ct val="100000"/>
                        </a:lnSpc>
                        <a:buNone/>
                        <a:defRPr/>
                      </a:pPr>
                      <a:r>
                        <a:rPr lang="en-US" sz="2000">
                          <a:solidFill>
                            <a:srgbClr val="000000"/>
                          </a:solidFill>
                          <a:latin typeface="Nanum Gothic"/>
                          <a:ea typeface="Nanum Gothic"/>
                          <a:cs typeface="Nanum Gothic"/>
                          <a:sym typeface="Nanum Gothic"/>
                        </a:rPr>
                        <a:t>11</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3395257" y="1595665"/>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Backup · Table 1</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15</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6000" b="1">
                <a:solidFill>
                  <a:srgbClr val="000000"/>
                </a:solidFill>
                <a:latin typeface="Nanum Gothic Bold"/>
              </a:rPr>
              <a:t>Table 1, corrected</a:t>
            </a:r>
          </a:p>
        </p:txBody>
      </p:sp>
      <p:sp>
        <p:nvSpPr>
          <p:cNvPr id="10" name="TextBox 9"/>
          <p:cNvSpPr txBox="1"/>
          <p:nvPr/>
        </p:nvSpPr>
        <p:spPr>
          <a:xfrm>
            <a:off x="1316736" y="9098280"/>
            <a:ext cx="15636240" cy="548640"/>
          </a:xfrm>
          <a:prstGeom prst="rect">
            <a:avLst/>
          </a:prstGeom>
          <a:noFill/>
        </p:spPr>
        <p:txBody>
          <a:bodyPr wrap="square" lIns="0" rIns="0" tIns="0" bIns="0">
            <a:spAutoFit/>
          </a:bodyPr>
          <a:lstStyle/>
          <a:p>
            <a:r>
              <a:rPr sz="1500" b="0">
                <a:solidFill>
                  <a:srgbClr val="6F6F6F"/>
                </a:solidFill>
                <a:latin typeface="Nanum Gothic"/>
              </a:rPr>
              <a:t>* The paper prints 25 and 15. Rows add up to 24 + 6 = 30 and 9 + 7 = 16, which matches the text and Fig. 5A (245 and 69 task–condition pairs).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3847256"/>
          </a:xfrm>
          <a:prstGeom prst="rect">
            <a:avLst/>
          </a:prstGeom>
          <a:solidFill>
            <a:srgbClr val="F1F1F1"/>
          </a:solidFill>
        </p:spPr>
      </p:sp>
      <p:graphicFrame>
        <p:nvGraphicFramePr>
          <p:cNvPr name="Table 3" id="3"/>
          <p:cNvGraphicFramePr>
            <a:graphicFrameLocks noGrp="true"/>
          </p:cNvGraphicFramePr>
          <p:nvPr/>
        </p:nvGraphicFramePr>
        <p:xfrm>
          <a:off x="1317597" y="4939827"/>
          <a:ext cx="15633756" cy="4318473"/>
        </p:xfrm>
        <a:graphic>
          <a:graphicData uri="http://schemas.openxmlformats.org/drawingml/2006/table">
            <a:tbl>
              <a:tblPr/>
              <a:tblGrid>
                <a:gridCol w="3840480"/>
                <a:gridCol w="11793276"/>
              </a:tblGrid>
              <a:tr h="731520">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Term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c>
                  <a:txBody>
                    <a:bodyPr anchor="t" rtlCol="false"/>
                    <a:lstStyle/>
                    <a:p>
                      <a:pPr algn="ctr">
                        <a:lnSpc>
                          <a:spcPts val="3919"/>
                        </a:lnSpc>
                        <a:defRPr/>
                      </a:pPr>
                      <a:r>
                        <a:rPr lang="en-US" sz="2200" b="true">
                          <a:solidFill>
                            <a:srgbClr val="FFFFFF"/>
                          </a:solidFill>
                          <a:latin typeface="Nanum Gothic Bold"/>
                          <a:ea typeface="Nanum Gothic Bold"/>
                          <a:cs typeface="Nanum Gothic Bold"/>
                          <a:sym typeface="Nanum Gothic Bold"/>
                        </a:rPr>
                        <a:t>Meaning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A643F"/>
                    </a:solidFill>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GPR rule</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Complex = AND (take min); isozymes = OR (take largest |log2FC|)</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pFBA</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Flux balance analysis picking the smallest-total-flux pathway per task</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FVA</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Flux range per reaction; 149 of 187 tasks have alternative pathways</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Permutation null</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Shuffle gene log2FC 10,000 times; significant if tail fraction &lt; 0.025</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GI50</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Dose that halves growth; singles at GI50, combinations at half of each</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6928">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Jaccard index</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ct val="100000"/>
                        </a:lnSpc>
                        <a:buNone/>
                        <a:defRPr/>
                      </a:pPr>
                      <a:r>
                        <a:rPr lang="en-US" sz="2000">
                          <a:solidFill>
                            <a:srgbClr val="000000"/>
                          </a:solidFill>
                          <a:latin typeface="Nanum Gothic"/>
                          <a:ea typeface="Nanum Gothic"/>
                          <a:cs typeface="Nanum Gothic"/>
                          <a:sym typeface="Nanum Gothic"/>
                        </a:rPr>
                        <a:t>Set overlap: intersection divided by union (0 to 1)</a:t>
                      </a:r>
                      <a:endParaRPr lang="en-US" sz="1100"/>
                    </a:p>
                  </a:txBody>
                  <a:tcPr marL="190500" marR="190500" marT="45720" marB="4572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3395257" y="1595665"/>
            <a:ext cx="3575146" cy="655927"/>
            <a:chOff x="0" y="0"/>
            <a:chExt cx="4766862" cy="874569"/>
          </a:xfrm>
        </p:grpSpPr>
        <p:grpSp>
          <p:nvGrpSpPr>
            <p:cNvPr name="Group 5" id="5"/>
            <p:cNvGrpSpPr/>
            <p:nvPr/>
          </p:nvGrpSpPr>
          <p:grpSpPr>
            <a:xfrm rot="0">
              <a:off x="0" y="0"/>
              <a:ext cx="4766862" cy="874569"/>
              <a:chOff x="0" y="0"/>
              <a:chExt cx="5150908" cy="945029"/>
            </a:xfrm>
          </p:grpSpPr>
          <p:sp>
            <p:nvSpPr>
              <p:cNvPr name="Freeform 6" id="6"/>
              <p:cNvSpPr/>
              <p:nvPr/>
            </p:nvSpPr>
            <p:spPr>
              <a:xfrm flipH="false" flipV="false" rot="0">
                <a:off x="0" y="0"/>
                <a:ext cx="5152178" cy="945029"/>
              </a:xfrm>
              <a:custGeom>
                <a:avLst/>
                <a:gdLst/>
                <a:ahLst/>
                <a:cxnLst/>
                <a:rect r="r" b="b" t="t" l="l"/>
                <a:pathLst>
                  <a:path h="945029" w="5152178">
                    <a:moveTo>
                      <a:pt x="4598458" y="945029"/>
                    </a:moveTo>
                    <a:lnTo>
                      <a:pt x="553720" y="945029"/>
                    </a:lnTo>
                    <a:cubicBezTo>
                      <a:pt x="247650" y="945029"/>
                      <a:pt x="0" y="733433"/>
                      <a:pt x="0" y="473042"/>
                    </a:cubicBezTo>
                    <a:cubicBezTo>
                      <a:pt x="0" y="211567"/>
                      <a:pt x="247650" y="0"/>
                      <a:pt x="553720" y="0"/>
                    </a:cubicBezTo>
                    <a:lnTo>
                      <a:pt x="4598458" y="0"/>
                    </a:lnTo>
                    <a:cubicBezTo>
                      <a:pt x="4904528" y="0"/>
                      <a:pt x="5152178" y="211567"/>
                      <a:pt x="5152178" y="473042"/>
                    </a:cubicBezTo>
                    <a:cubicBezTo>
                      <a:pt x="5150908" y="733433"/>
                      <a:pt x="4903258" y="945029"/>
                      <a:pt x="4598458" y="945029"/>
                    </a:cubicBezTo>
                    <a:close/>
                  </a:path>
                </a:pathLst>
              </a:custGeom>
              <a:solidFill>
                <a:srgbClr val="FA643F"/>
              </a:solidFill>
            </p:spPr>
          </p:sp>
        </p:grpSp>
        <p:sp>
          <p:nvSpPr>
            <p:cNvPr name="TextBox 7" id="7"/>
            <p:cNvSpPr txBox="true"/>
            <p:nvPr/>
          </p:nvSpPr>
          <p:spPr>
            <a:xfrm rot="0">
              <a:off x="432508" y="188576"/>
              <a:ext cx="3901845" cy="449792"/>
            </a:xfrm>
            <a:prstGeom prst="rect">
              <a:avLst/>
            </a:prstGeom>
          </p:spPr>
          <p:txBody>
            <a:bodyPr anchor="t" rtlCol="false" tIns="0" lIns="0" bIns="0" rIns="0">
              <a:spAutoFit/>
            </a:bodyPr>
            <a:lstStyle/>
            <a:p>
              <a:pPr algn="ctr">
                <a:lnSpc>
                  <a:spcPts val="2800"/>
                </a:lnSpc>
              </a:pPr>
              <a:r>
                <a:rPr lang="en-US" sz="2000" u="none">
                  <a:solidFill>
                    <a:srgbClr val="FFFFFF"/>
                  </a:solidFill>
                  <a:latin typeface="Nanum Gothic"/>
                  <a:ea typeface="Nanum Gothic"/>
                  <a:cs typeface="Nanum Gothic"/>
                  <a:sym typeface="Nanum Gothic"/>
                </a:rPr>
                <a:t>Backup · Terms</a:t>
              </a:r>
            </a:p>
          </p:txBody>
        </p:sp>
      </p:grpSp>
      <p:sp>
        <p:nvSpPr>
          <p:cNvPr id="8" name="TextBox 7"/>
          <p:cNvSpPr txBox="1"/>
          <p:nvPr/>
        </p:nvSpPr>
        <p:spPr>
          <a:xfrm>
            <a:off x="1316736" y="1042415"/>
            <a:ext cx="1280160" cy="457200"/>
          </a:xfrm>
          <a:prstGeom prst="rect">
            <a:avLst/>
          </a:prstGeom>
          <a:noFill/>
        </p:spPr>
        <p:txBody>
          <a:bodyPr wrap="square" lIns="0" rIns="0" tIns="0" bIns="0">
            <a:spAutoFit/>
          </a:bodyPr>
          <a:lstStyle/>
          <a:p>
            <a:r>
              <a:rPr sz="2500" b="1">
                <a:solidFill>
                  <a:srgbClr val="FA643F"/>
                </a:solidFill>
                <a:latin typeface="Nanum Gothic Bold"/>
              </a:rPr>
              <a:t>16</a:t>
            </a:r>
          </a:p>
        </p:txBody>
      </p:sp>
      <p:sp>
        <p:nvSpPr>
          <p:cNvPr id="9" name="TextBox 8"/>
          <p:cNvSpPr txBox="1"/>
          <p:nvPr/>
        </p:nvSpPr>
        <p:spPr>
          <a:xfrm>
            <a:off x="1316736" y="1481328"/>
            <a:ext cx="14630400" cy="1280160"/>
          </a:xfrm>
          <a:prstGeom prst="rect">
            <a:avLst/>
          </a:prstGeom>
          <a:noFill/>
        </p:spPr>
        <p:txBody>
          <a:bodyPr wrap="square" lIns="0" rIns="0" tIns="0" bIns="0">
            <a:spAutoFit/>
          </a:bodyPr>
          <a:lstStyle/>
          <a:p>
            <a:r>
              <a:rPr sz="6000" b="1">
                <a:solidFill>
                  <a:srgbClr val="000000"/>
                </a:solidFill>
                <a:latin typeface="Nanum Gothic Bold"/>
              </a:rPr>
              <a:t>Terms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DAHXxGVhmEY</dc:identifier>
  <dcterms:modified xsi:type="dcterms:W3CDTF">2011-08-01T06:04:30Z</dcterms:modified>
  <cp:revision>1</cp:revision>
  <dc:title>흰색 주황색 회색 심플하고 미니멀한 컨퍼런스 연구 교육 프레젠테이션</dc:title>
</cp:coreProperties>
</file>